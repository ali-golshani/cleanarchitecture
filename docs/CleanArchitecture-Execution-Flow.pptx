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726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Editable architecture diagram recreated from the approved project design. Solid connectors show execution flow; dashed connectors show optional or cross-cutting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36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9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13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75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1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77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87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13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0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7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50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8707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013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496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48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46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53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19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4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0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117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634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684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889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747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64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82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55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18" Type="http://schemas.openxmlformats.org/officeDocument/2006/relationships/image" Target="../media/image2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19" Type="http://schemas.openxmlformats.org/officeDocument/2006/relationships/image" Target="../media/image23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ntry-background">
            <a:extLst>
              <a:ext uri="{FF2B5EF4-FFF2-40B4-BE49-F238E27FC236}">
                <a16:creationId xmlns:a16="http://schemas.microsoft.com/office/drawing/2014/main" id="{52E00407-B3C3-41A2-A727-CEA33C1B8176}"/>
              </a:ext>
            </a:extLst>
          </p:cNvPr>
          <p:cNvSpPr>
            <a:spLocks noGrp="1"/>
          </p:cNvSpPr>
          <p:nvPr/>
        </p:nvSpPr>
        <p:spPr>
          <a:xfrm>
            <a:off x="76200" y="76200"/>
            <a:ext cx="12039600" cy="1104900"/>
          </a:xfrm>
          <a:prstGeom prst="roundRect">
            <a:avLst>
              <a:gd name="adj" fmla="val 5556"/>
            </a:avLst>
          </a:prstGeom>
          <a:noFill/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entry-label">
            <a:extLst>
              <a:ext uri="{FF2B5EF4-FFF2-40B4-BE49-F238E27FC236}">
                <a16:creationId xmlns:a16="http://schemas.microsoft.com/office/drawing/2014/main" id="{8E05F228-76CD-4FF3-895B-F321C9908617}"/>
              </a:ext>
            </a:extLst>
          </p:cNvPr>
          <p:cNvSpPr>
            <a:spLocks noGrp="1"/>
          </p:cNvSpPr>
          <p:nvPr/>
        </p:nvSpPr>
        <p:spPr>
          <a:xfrm>
            <a:off x="133350" y="133349"/>
            <a:ext cx="1645920" cy="982823"/>
          </a:xfrm>
          <a:prstGeom prst="roundRect">
            <a:avLst>
              <a:gd name="adj" fmla="val 5208"/>
            </a:avLst>
          </a:prstGeom>
          <a:pattFill prst="pct5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2880" tIns="47625" rIns="76200" bIns="47625" anchor="ctr">
            <a:normAutofit/>
          </a:bodyPr>
          <a:lstStyle/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APPLICATION</a:t>
            </a:r>
          </a:p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ENTRY POINTS</a:t>
            </a:r>
          </a:p>
        </p:txBody>
      </p:sp>
      <p:sp>
        <p:nvSpPr>
          <p:cNvPr id="3" name="cross-module-background">
            <a:extLst>
              <a:ext uri="{FF2B5EF4-FFF2-40B4-BE49-F238E27FC236}">
                <a16:creationId xmlns:a16="http://schemas.microsoft.com/office/drawing/2014/main" id="{27D376F0-468A-4C0D-BEF6-F17ED3711C71}"/>
              </a:ext>
            </a:extLst>
          </p:cNvPr>
          <p:cNvSpPr>
            <a:spLocks noGrp="1"/>
          </p:cNvSpPr>
          <p:nvPr/>
        </p:nvSpPr>
        <p:spPr>
          <a:xfrm>
            <a:off x="76200" y="1249680"/>
            <a:ext cx="12039600" cy="779145"/>
          </a:xfrm>
          <a:prstGeom prst="roundRect">
            <a:avLst>
              <a:gd name="adj" fmla="val 6522"/>
            </a:avLst>
          </a:prstGeom>
          <a:noFill/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ross-module-label">
            <a:extLst>
              <a:ext uri="{FF2B5EF4-FFF2-40B4-BE49-F238E27FC236}">
                <a16:creationId xmlns:a16="http://schemas.microsoft.com/office/drawing/2014/main" id="{2F148C0B-0EF9-45CA-A45F-FE47B0743C8D}"/>
              </a:ext>
            </a:extLst>
          </p:cNvPr>
          <p:cNvSpPr>
            <a:spLocks noGrp="1"/>
          </p:cNvSpPr>
          <p:nvPr/>
        </p:nvSpPr>
        <p:spPr>
          <a:xfrm>
            <a:off x="133350" y="1320085"/>
            <a:ext cx="1645920" cy="640080"/>
          </a:xfrm>
          <a:prstGeom prst="roundRect">
            <a:avLst>
              <a:gd name="adj" fmla="val 6250"/>
            </a:avLst>
          </a:prstGeom>
          <a:pattFill prst="pct5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2880" tIns="47625" rIns="76200" bIns="47625" anchor="ctr">
            <a:normAutofit/>
          </a:bodyPr>
          <a:lstStyle/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lang="en-US" sz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OPTIONAL</a:t>
            </a:r>
          </a:p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CROSS-MODULE</a:t>
            </a:r>
          </a:p>
        </p:txBody>
      </p:sp>
      <p:sp>
        <p:nvSpPr>
          <p:cNvPr id="5" name="module-entry-background">
            <a:extLst>
              <a:ext uri="{FF2B5EF4-FFF2-40B4-BE49-F238E27FC236}">
                <a16:creationId xmlns:a16="http://schemas.microsoft.com/office/drawing/2014/main" id="{68AA3853-8CDC-458F-A875-79D324A987E9}"/>
              </a:ext>
            </a:extLst>
          </p:cNvPr>
          <p:cNvSpPr>
            <a:spLocks noGrp="1"/>
          </p:cNvSpPr>
          <p:nvPr/>
        </p:nvSpPr>
        <p:spPr>
          <a:xfrm>
            <a:off x="76200" y="2076450"/>
            <a:ext cx="12039600" cy="876300"/>
          </a:xfrm>
          <a:prstGeom prst="roundRect">
            <a:avLst>
              <a:gd name="adj" fmla="val 6522"/>
            </a:avLst>
          </a:prstGeom>
          <a:noFill/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odule-entry-label">
            <a:extLst>
              <a:ext uri="{FF2B5EF4-FFF2-40B4-BE49-F238E27FC236}">
                <a16:creationId xmlns:a16="http://schemas.microsoft.com/office/drawing/2014/main" id="{2BCDE13D-E99A-4BA1-9F17-EAA8868800E8}"/>
              </a:ext>
            </a:extLst>
          </p:cNvPr>
          <p:cNvSpPr>
            <a:spLocks noGrp="1"/>
          </p:cNvSpPr>
          <p:nvPr/>
        </p:nvSpPr>
        <p:spPr>
          <a:xfrm>
            <a:off x="133350" y="2133600"/>
            <a:ext cx="1645920" cy="762000"/>
          </a:xfrm>
          <a:prstGeom prst="roundRect">
            <a:avLst>
              <a:gd name="adj" fmla="val 6250"/>
            </a:avLst>
          </a:prstGeom>
          <a:pattFill prst="pct5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2880" tIns="47625" rIns="76200" bIns="47625" anchor="ctr">
            <a:normAutofit/>
          </a:bodyPr>
          <a:lstStyle/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MODULE ENTRY</a:t>
            </a:r>
          </a:p>
        </p:txBody>
      </p:sp>
      <p:sp>
        <p:nvSpPr>
          <p:cNvPr id="7" name="handlers-background">
            <a:extLst>
              <a:ext uri="{FF2B5EF4-FFF2-40B4-BE49-F238E27FC236}">
                <a16:creationId xmlns:a16="http://schemas.microsoft.com/office/drawing/2014/main" id="{C233B837-025B-492D-AC8D-16AF52062079}"/>
              </a:ext>
            </a:extLst>
          </p:cNvPr>
          <p:cNvSpPr>
            <a:spLocks noGrp="1"/>
          </p:cNvSpPr>
          <p:nvPr/>
        </p:nvSpPr>
        <p:spPr>
          <a:xfrm>
            <a:off x="76200" y="3000375"/>
            <a:ext cx="12039600" cy="819150"/>
          </a:xfrm>
          <a:prstGeom prst="roundRect">
            <a:avLst>
              <a:gd name="adj" fmla="val 6977"/>
            </a:avLst>
          </a:prstGeom>
          <a:noFill/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andlers-label">
            <a:extLst>
              <a:ext uri="{FF2B5EF4-FFF2-40B4-BE49-F238E27FC236}">
                <a16:creationId xmlns:a16="http://schemas.microsoft.com/office/drawing/2014/main" id="{5AE66684-5277-4AB6-BCE7-B95E00923E86}"/>
              </a:ext>
            </a:extLst>
          </p:cNvPr>
          <p:cNvSpPr>
            <a:spLocks noGrp="1"/>
          </p:cNvSpPr>
          <p:nvPr/>
        </p:nvSpPr>
        <p:spPr>
          <a:xfrm>
            <a:off x="133350" y="3057525"/>
            <a:ext cx="1645920" cy="704850"/>
          </a:xfrm>
          <a:prstGeom prst="roundRect">
            <a:avLst>
              <a:gd name="adj" fmla="val 6757"/>
            </a:avLst>
          </a:prstGeom>
          <a:pattFill prst="pct5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2880" tIns="47625" rIns="76200" bIns="47625" anchor="ctr">
            <a:normAutofit/>
          </a:bodyPr>
          <a:lstStyle/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APPLICATION</a:t>
            </a:r>
          </a:p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HANDLERS</a:t>
            </a:r>
          </a:p>
        </p:txBody>
      </p:sp>
      <p:sp>
        <p:nvSpPr>
          <p:cNvPr id="9" name="processing-background">
            <a:extLst>
              <a:ext uri="{FF2B5EF4-FFF2-40B4-BE49-F238E27FC236}">
                <a16:creationId xmlns:a16="http://schemas.microsoft.com/office/drawing/2014/main" id="{CD282A39-0EB5-4471-8CF7-9C848973B593}"/>
              </a:ext>
            </a:extLst>
          </p:cNvPr>
          <p:cNvSpPr>
            <a:spLocks noGrp="1"/>
          </p:cNvSpPr>
          <p:nvPr/>
        </p:nvSpPr>
        <p:spPr>
          <a:xfrm>
            <a:off x="76200" y="3867150"/>
            <a:ext cx="12039600" cy="1047750"/>
          </a:xfrm>
          <a:prstGeom prst="roundRect">
            <a:avLst>
              <a:gd name="adj" fmla="val 5455"/>
            </a:avLst>
          </a:prstGeom>
          <a:noFill/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rocessing-label">
            <a:extLst>
              <a:ext uri="{FF2B5EF4-FFF2-40B4-BE49-F238E27FC236}">
                <a16:creationId xmlns:a16="http://schemas.microsoft.com/office/drawing/2014/main" id="{964795D3-3544-456C-8723-87247141304A}"/>
              </a:ext>
            </a:extLst>
          </p:cNvPr>
          <p:cNvSpPr>
            <a:spLocks noGrp="1"/>
          </p:cNvSpPr>
          <p:nvPr/>
        </p:nvSpPr>
        <p:spPr>
          <a:xfrm>
            <a:off x="133350" y="3924300"/>
            <a:ext cx="1645920" cy="933450"/>
          </a:xfrm>
          <a:prstGeom prst="roundRect">
            <a:avLst>
              <a:gd name="adj" fmla="val 5102"/>
            </a:avLst>
          </a:prstGeom>
          <a:pattFill prst="pct5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2880" tIns="47625" rIns="76200" bIns="47625" anchor="ctr">
            <a:normAutofit/>
          </a:bodyPr>
          <a:lstStyle/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11" name="infrastructure-background">
            <a:extLst>
              <a:ext uri="{FF2B5EF4-FFF2-40B4-BE49-F238E27FC236}">
                <a16:creationId xmlns:a16="http://schemas.microsoft.com/office/drawing/2014/main" id="{7C73DBD2-1643-46AF-B4BC-60B6595241A5}"/>
              </a:ext>
            </a:extLst>
          </p:cNvPr>
          <p:cNvSpPr>
            <a:spLocks noGrp="1"/>
          </p:cNvSpPr>
          <p:nvPr/>
        </p:nvSpPr>
        <p:spPr>
          <a:xfrm>
            <a:off x="76200" y="4962525"/>
            <a:ext cx="12039600" cy="866775"/>
          </a:xfrm>
          <a:prstGeom prst="roundRect">
            <a:avLst>
              <a:gd name="adj" fmla="val 6593"/>
            </a:avLst>
          </a:prstGeom>
          <a:solidFill>
            <a:srgbClr val="F7F9FB"/>
          </a:solidFill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nfrastructure-label">
            <a:extLst>
              <a:ext uri="{FF2B5EF4-FFF2-40B4-BE49-F238E27FC236}">
                <a16:creationId xmlns:a16="http://schemas.microsoft.com/office/drawing/2014/main" id="{CCC383B6-48A7-4C88-9A52-2B093724FC41}"/>
              </a:ext>
            </a:extLst>
          </p:cNvPr>
          <p:cNvSpPr>
            <a:spLocks noGrp="1"/>
          </p:cNvSpPr>
          <p:nvPr/>
        </p:nvSpPr>
        <p:spPr>
          <a:xfrm>
            <a:off x="133350" y="5019675"/>
            <a:ext cx="1645920" cy="752475"/>
          </a:xfrm>
          <a:prstGeom prst="roundRect">
            <a:avLst>
              <a:gd name="adj" fmla="val 6329"/>
            </a:avLst>
          </a:prstGeom>
          <a:pattFill prst="pct5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2880" tIns="47625" rIns="76200" bIns="47625" anchor="ctr">
            <a:normAutofit/>
          </a:bodyPr>
          <a:lstStyle/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13" name="technologies-background">
            <a:extLst>
              <a:ext uri="{FF2B5EF4-FFF2-40B4-BE49-F238E27FC236}">
                <a16:creationId xmlns:a16="http://schemas.microsoft.com/office/drawing/2014/main" id="{E395C0B5-8C61-41D5-B8FB-280478749187}"/>
              </a:ext>
            </a:extLst>
          </p:cNvPr>
          <p:cNvSpPr>
            <a:spLocks noGrp="1"/>
          </p:cNvSpPr>
          <p:nvPr/>
        </p:nvSpPr>
        <p:spPr>
          <a:xfrm>
            <a:off x="76200" y="5876925"/>
            <a:ext cx="12039600" cy="904875"/>
          </a:xfrm>
          <a:prstGeom prst="roundRect">
            <a:avLst>
              <a:gd name="adj" fmla="val 6316"/>
            </a:avLst>
          </a:prstGeom>
          <a:solidFill>
            <a:srgbClr val="FBFCFD"/>
          </a:solidFill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chnologies-label">
            <a:extLst>
              <a:ext uri="{FF2B5EF4-FFF2-40B4-BE49-F238E27FC236}">
                <a16:creationId xmlns:a16="http://schemas.microsoft.com/office/drawing/2014/main" id="{02677F20-5A7A-41A8-8974-746444FB7F75}"/>
              </a:ext>
            </a:extLst>
          </p:cNvPr>
          <p:cNvSpPr>
            <a:spLocks noGrp="1"/>
          </p:cNvSpPr>
          <p:nvPr/>
        </p:nvSpPr>
        <p:spPr>
          <a:xfrm>
            <a:off x="133350" y="5934075"/>
            <a:ext cx="1645920" cy="790575"/>
          </a:xfrm>
          <a:prstGeom prst="roundRect">
            <a:avLst>
              <a:gd name="adj" fmla="val 6024"/>
            </a:avLst>
          </a:prstGeom>
          <a:pattFill prst="pct5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2880" tIns="47625" rIns="76200" bIns="47625" anchor="ctr">
            <a:normAutofit/>
          </a:bodyPr>
          <a:lstStyle/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FRAMEWORKS AND</a:t>
            </a:r>
          </a:p>
          <a:p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  <a:ea typeface="Aptos"/>
                <a:cs typeface="Aptos"/>
              </a:rPr>
              <a:t>TECHNOLOGIES</a:t>
            </a:r>
          </a:p>
        </p:txBody>
      </p:sp>
      <p:sp>
        <p:nvSpPr>
          <p:cNvPr id="15" name="web-api">
            <a:extLst>
              <a:ext uri="{FF2B5EF4-FFF2-40B4-BE49-F238E27FC236}">
                <a16:creationId xmlns:a16="http://schemas.microsoft.com/office/drawing/2014/main" id="{7F235520-FFE0-41F6-BEF7-9F400A76FBBE}"/>
              </a:ext>
            </a:extLst>
          </p:cNvPr>
          <p:cNvSpPr>
            <a:spLocks noGrp="1"/>
          </p:cNvSpPr>
          <p:nvPr/>
        </p:nvSpPr>
        <p:spPr>
          <a:xfrm>
            <a:off x="2388870" y="184461"/>
            <a:ext cx="2468880" cy="285750"/>
          </a:xfrm>
          <a:prstGeom prst="roundRect">
            <a:avLst>
              <a:gd name="adj" fmla="val 21875"/>
            </a:avLst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76200" tIns="47625" rIns="76200" bIns="47625" anchor="ctr">
            <a:noAutofit/>
          </a:bodyPr>
          <a:lstStyle/>
          <a:p>
            <a:pPr algn="ctr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chemeClr val="bg1"/>
                </a:solidFill>
                <a:latin typeface="Aptos"/>
                <a:ea typeface="Aptos"/>
                <a:cs typeface="Aptos"/>
              </a:rPr>
              <a:t>Web API</a:t>
            </a:r>
          </a:p>
        </p:txBody>
      </p:sp>
      <p:sp>
        <p:nvSpPr>
          <p:cNvPr id="16" name="http-endpoints">
            <a:extLst>
              <a:ext uri="{FF2B5EF4-FFF2-40B4-BE49-F238E27FC236}">
                <a16:creationId xmlns:a16="http://schemas.microsoft.com/office/drawing/2014/main" id="{A9BAC379-5A44-4B6D-B972-B96841D41073}"/>
              </a:ext>
            </a:extLst>
          </p:cNvPr>
          <p:cNvSpPr>
            <a:spLocks noGrp="1"/>
          </p:cNvSpPr>
          <p:nvPr/>
        </p:nvSpPr>
        <p:spPr>
          <a:xfrm>
            <a:off x="2388870" y="706694"/>
            <a:ext cx="2468880" cy="3048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76200" tIns="47625" rIns="76200" bIns="47625" anchor="ctr">
            <a:normAutofit fontScale="92500" lnSpcReduction="10000"/>
          </a:bodyPr>
          <a:lstStyle/>
          <a:p>
            <a:pPr algn="ctr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chemeClr val="bg1"/>
                </a:solidFill>
                <a:latin typeface="Aptos"/>
                <a:ea typeface="Aptos"/>
                <a:cs typeface="Aptos"/>
              </a:rPr>
              <a:t>HTTP Endpoints</a:t>
            </a:r>
          </a:p>
        </p:txBody>
      </p:sp>
      <p:sp>
        <p:nvSpPr>
          <p:cNvPr id="17" name="scheduling-host">
            <a:extLst>
              <a:ext uri="{FF2B5EF4-FFF2-40B4-BE49-F238E27FC236}">
                <a16:creationId xmlns:a16="http://schemas.microsoft.com/office/drawing/2014/main" id="{17A5C804-C5B8-4E46-B596-BBD1F8AC98D8}"/>
              </a:ext>
            </a:extLst>
          </p:cNvPr>
          <p:cNvSpPr>
            <a:spLocks noGrp="1"/>
          </p:cNvSpPr>
          <p:nvPr/>
        </p:nvSpPr>
        <p:spPr>
          <a:xfrm>
            <a:off x="5480475" y="174936"/>
            <a:ext cx="2468880" cy="304800"/>
          </a:xfrm>
          <a:prstGeom prst="roundRect">
            <a:avLst>
              <a:gd name="adj" fmla="val 21875"/>
            </a:avLst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76200" tIns="47625" rIns="76200" bIns="47625" anchor="ctr">
            <a:noAutofit/>
          </a:bodyPr>
          <a:lstStyle/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Scheduling Hosted Service</a:t>
            </a:r>
          </a:p>
        </p:txBody>
      </p:sp>
      <p:sp>
        <p:nvSpPr>
          <p:cNvPr id="18" name="scheduled-job-adapter">
            <a:extLst>
              <a:ext uri="{FF2B5EF4-FFF2-40B4-BE49-F238E27FC236}">
                <a16:creationId xmlns:a16="http://schemas.microsoft.com/office/drawing/2014/main" id="{DAF77CCB-CBC3-42B5-BD64-8E50D7E0A711}"/>
              </a:ext>
            </a:extLst>
          </p:cNvPr>
          <p:cNvSpPr>
            <a:spLocks noGrp="1"/>
          </p:cNvSpPr>
          <p:nvPr/>
        </p:nvSpPr>
        <p:spPr>
          <a:xfrm>
            <a:off x="5480475" y="706694"/>
            <a:ext cx="2468880" cy="3048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76200" tIns="47625" rIns="76200" bIns="47625" anchor="ctr">
            <a:normAutofit lnSpcReduction="10000"/>
          </a:bodyPr>
          <a:lstStyle/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chemeClr val="bg1"/>
                </a:solidFill>
                <a:latin typeface="Aptos"/>
                <a:ea typeface="Aptos"/>
                <a:cs typeface="Aptos"/>
              </a:rPr>
              <a:t>Scheduled Job Adapter</a:t>
            </a:r>
          </a:p>
        </p:txBody>
      </p:sp>
      <p:sp>
        <p:nvSpPr>
          <p:cNvPr id="19" name="messaging-host">
            <a:extLst>
              <a:ext uri="{FF2B5EF4-FFF2-40B4-BE49-F238E27FC236}">
                <a16:creationId xmlns:a16="http://schemas.microsoft.com/office/drawing/2014/main" id="{0E510C88-D28C-42E9-856D-BAB13E154143}"/>
              </a:ext>
            </a:extLst>
          </p:cNvPr>
          <p:cNvSpPr>
            <a:spLocks noGrp="1"/>
          </p:cNvSpPr>
          <p:nvPr/>
        </p:nvSpPr>
        <p:spPr>
          <a:xfrm>
            <a:off x="8814161" y="174936"/>
            <a:ext cx="2468880" cy="304800"/>
          </a:xfrm>
          <a:prstGeom prst="roundRect">
            <a:avLst>
              <a:gd name="adj" fmla="val 21875"/>
            </a:avLst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76200" tIns="47625" rIns="76200" bIns="47625" anchor="ctr">
            <a:noAutofit/>
          </a:bodyPr>
          <a:lstStyle/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Messaging Hosted Service</a:t>
            </a:r>
          </a:p>
        </p:txBody>
      </p:sp>
      <p:sp>
        <p:nvSpPr>
          <p:cNvPr id="20" name="subscriber-consumer">
            <a:extLst>
              <a:ext uri="{FF2B5EF4-FFF2-40B4-BE49-F238E27FC236}">
                <a16:creationId xmlns:a16="http://schemas.microsoft.com/office/drawing/2014/main" id="{70810611-41EB-4A71-84D6-7DB094D338D6}"/>
              </a:ext>
            </a:extLst>
          </p:cNvPr>
          <p:cNvSpPr>
            <a:spLocks noGrp="1"/>
          </p:cNvSpPr>
          <p:nvPr/>
        </p:nvSpPr>
        <p:spPr>
          <a:xfrm>
            <a:off x="8814161" y="706694"/>
            <a:ext cx="2468880" cy="3048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76200" tIns="47625" rIns="76200" bIns="47625" anchor="ctr">
            <a:normAutofit lnSpcReduction="10000"/>
          </a:bodyPr>
          <a:lstStyle/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chemeClr val="bg1"/>
                </a:solidFill>
                <a:latin typeface="Aptos"/>
                <a:ea typeface="Aptos"/>
                <a:cs typeface="Aptos"/>
              </a:rPr>
              <a:t>Subscriber / Consumer</a:t>
            </a:r>
          </a:p>
        </p:txBody>
      </p:sp>
      <p:sp>
        <p:nvSpPr>
          <p:cNvPr id="22" name="process-manager">
            <a:extLst>
              <a:ext uri="{FF2B5EF4-FFF2-40B4-BE49-F238E27FC236}">
                <a16:creationId xmlns:a16="http://schemas.microsoft.com/office/drawing/2014/main" id="{EBC60600-BBA5-42CD-BF6F-333F0B20C32C}"/>
              </a:ext>
            </a:extLst>
          </p:cNvPr>
          <p:cNvSpPr>
            <a:spLocks noGrp="1"/>
          </p:cNvSpPr>
          <p:nvPr/>
        </p:nvSpPr>
        <p:spPr>
          <a:xfrm>
            <a:off x="7557428" y="1400174"/>
            <a:ext cx="2035045" cy="361950"/>
          </a:xfrm>
          <a:prstGeom prst="roundRect">
            <a:avLst>
              <a:gd name="adj" fmla="val 18421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lang="en-US" sz="12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 </a:t>
            </a:r>
            <a:r>
              <a:rPr sz="12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Process Manager</a:t>
            </a:r>
          </a:p>
        </p:txBody>
      </p:sp>
      <p:sp>
        <p:nvSpPr>
          <p:cNvPr id="23" name="cross-module-querying">
            <a:extLst>
              <a:ext uri="{FF2B5EF4-FFF2-40B4-BE49-F238E27FC236}">
                <a16:creationId xmlns:a16="http://schemas.microsoft.com/office/drawing/2014/main" id="{35CDE637-C2E2-4550-884B-AFC05726C5F9}"/>
              </a:ext>
            </a:extLst>
          </p:cNvPr>
          <p:cNvSpPr>
            <a:spLocks noGrp="1"/>
          </p:cNvSpPr>
          <p:nvPr/>
        </p:nvSpPr>
        <p:spPr>
          <a:xfrm>
            <a:off x="9704750" y="1404938"/>
            <a:ext cx="2103118" cy="361950"/>
          </a:xfrm>
          <a:prstGeom prst="roundRect">
            <a:avLst>
              <a:gd name="adj" fmla="val 18421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lang="en-US" sz="12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    </a:t>
            </a:r>
            <a:r>
              <a:rPr sz="12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Cross-Module Querying</a:t>
            </a:r>
          </a:p>
        </p:txBody>
      </p:sp>
      <p:sp>
        <p:nvSpPr>
          <p:cNvPr id="24" name="module-runtime">
            <a:extLst>
              <a:ext uri="{FF2B5EF4-FFF2-40B4-BE49-F238E27FC236}">
                <a16:creationId xmlns:a16="http://schemas.microsoft.com/office/drawing/2014/main" id="{6FD94DB6-EF14-448E-97F2-9B67F9ECED9A}"/>
              </a:ext>
            </a:extLst>
          </p:cNvPr>
          <p:cNvSpPr>
            <a:spLocks noGrp="1"/>
          </p:cNvSpPr>
          <p:nvPr/>
        </p:nvSpPr>
        <p:spPr>
          <a:xfrm>
            <a:off x="2047875" y="2219325"/>
            <a:ext cx="4899251" cy="590550"/>
          </a:xfrm>
          <a:prstGeom prst="roundRect">
            <a:avLst>
              <a:gd name="adj" fmla="val 11290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ptos"/>
                <a:ea typeface="Aptos"/>
                <a:cs typeface="Aptos"/>
              </a:rPr>
              <a:t>Module Runtime</a:t>
            </a:r>
          </a:p>
          <a:p>
            <a:pPr algn="ctr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ptos"/>
                <a:ea typeface="Aptos"/>
                <a:cs typeface="Aptos"/>
              </a:rPr>
              <a:t>Dispatch and Execution Pipelines</a:t>
            </a:r>
          </a:p>
        </p:txBody>
      </p:sp>
      <p:sp>
        <p:nvSpPr>
          <p:cNvPr id="25" name="cross-cutting-middleware">
            <a:extLst>
              <a:ext uri="{FF2B5EF4-FFF2-40B4-BE49-F238E27FC236}">
                <a16:creationId xmlns:a16="http://schemas.microsoft.com/office/drawing/2014/main" id="{21EC98FA-49CD-4254-BD04-331452CDD865}"/>
              </a:ext>
            </a:extLst>
          </p:cNvPr>
          <p:cNvSpPr>
            <a:spLocks noGrp="1"/>
          </p:cNvSpPr>
          <p:nvPr/>
        </p:nvSpPr>
        <p:spPr>
          <a:xfrm>
            <a:off x="7280542" y="2219324"/>
            <a:ext cx="3074668" cy="590549"/>
          </a:xfrm>
          <a:prstGeom prst="roundRect">
            <a:avLst>
              <a:gd name="adj" fmla="val 14000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76200" tIns="47625" rIns="76200" bIns="47625" anchor="ctr">
            <a:normAutofit fontScale="93488"/>
          </a:bodyPr>
          <a:lstStyle/>
          <a:p>
            <a:pPr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Cross-Cutting Middleware</a:t>
            </a:r>
          </a:p>
          <a:p>
            <a:pPr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Authorization · Validation · Audit · Transaction</a:t>
            </a:r>
          </a:p>
        </p:txBody>
      </p:sp>
      <p:sp>
        <p:nvSpPr>
          <p:cNvPr id="26" name="command-handler">
            <a:extLst>
              <a:ext uri="{FF2B5EF4-FFF2-40B4-BE49-F238E27FC236}">
                <a16:creationId xmlns:a16="http://schemas.microsoft.com/office/drawing/2014/main" id="{17FF54EF-C4F3-4B8A-8438-12CE444DF79C}"/>
              </a:ext>
            </a:extLst>
          </p:cNvPr>
          <p:cNvSpPr>
            <a:spLocks noGrp="1"/>
          </p:cNvSpPr>
          <p:nvPr/>
        </p:nvSpPr>
        <p:spPr>
          <a:xfrm>
            <a:off x="2047875" y="3200400"/>
            <a:ext cx="2143125" cy="400050"/>
          </a:xfrm>
          <a:prstGeom prst="roundRect">
            <a:avLst>
              <a:gd name="adj" fmla="val 16667"/>
            </a:avLst>
          </a:prstGeom>
          <a:solidFill>
            <a:srgbClr val="EEF5FC"/>
          </a:solidFill>
          <a:ln w="9525">
            <a:solidFill>
              <a:srgbClr val="84AEDD"/>
            </a:solidFill>
            <a:prstDash val="solid"/>
          </a:ln>
        </p:spPr>
        <p:txBody>
          <a:bodyPr wrap="square" lIns="76200" tIns="47625" rIns="76200" bIns="47625" anchor="ctr">
            <a:normAutofit fontScale="95780"/>
          </a:bodyPr>
          <a:lstStyle/>
          <a:p>
            <a:pPr algn="ctr"/>
            <a:r>
              <a:rPr sz="1200">
                <a:solidFill>
                  <a:srgbClr val="1F2933"/>
                </a:solidFill>
                <a:latin typeface="Aptos"/>
              </a:rPr>
              <a:t>Command Handler</a:t>
            </a:r>
          </a:p>
        </p:txBody>
      </p:sp>
      <p:sp>
        <p:nvSpPr>
          <p:cNvPr id="27" name="query-handler">
            <a:extLst>
              <a:ext uri="{FF2B5EF4-FFF2-40B4-BE49-F238E27FC236}">
                <a16:creationId xmlns:a16="http://schemas.microsoft.com/office/drawing/2014/main" id="{CBBE642A-89FE-47B7-A892-EE0EC71A20F7}"/>
              </a:ext>
            </a:extLst>
          </p:cNvPr>
          <p:cNvSpPr>
            <a:spLocks noGrp="1"/>
          </p:cNvSpPr>
          <p:nvPr/>
        </p:nvSpPr>
        <p:spPr>
          <a:xfrm>
            <a:off x="4804001" y="3200400"/>
            <a:ext cx="2143125" cy="400050"/>
          </a:xfrm>
          <a:prstGeom prst="roundRect">
            <a:avLst>
              <a:gd name="adj" fmla="val 16667"/>
            </a:avLst>
          </a:prstGeom>
          <a:solidFill>
            <a:srgbClr val="F6F0FB"/>
          </a:solidFill>
          <a:ln w="9525">
            <a:solidFill>
              <a:srgbClr val="B79AD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/>
            <a:r>
              <a:rPr sz="1200">
                <a:solidFill>
                  <a:srgbClr val="1F2933"/>
                </a:solidFill>
                <a:latin typeface="Aptos"/>
              </a:rPr>
              <a:t>Query Handler</a:t>
            </a:r>
          </a:p>
        </p:txBody>
      </p:sp>
      <p:sp>
        <p:nvSpPr>
          <p:cNvPr id="28" name="domain-services">
            <a:extLst>
              <a:ext uri="{FF2B5EF4-FFF2-40B4-BE49-F238E27FC236}">
                <a16:creationId xmlns:a16="http://schemas.microsoft.com/office/drawing/2014/main" id="{B3A55665-474C-4EAA-9EBE-D47407D1A461}"/>
              </a:ext>
            </a:extLst>
          </p:cNvPr>
          <p:cNvSpPr>
            <a:spLocks noGrp="1"/>
          </p:cNvSpPr>
          <p:nvPr/>
        </p:nvSpPr>
        <p:spPr>
          <a:xfrm>
            <a:off x="2047875" y="4029075"/>
            <a:ext cx="2143125" cy="323850"/>
          </a:xfrm>
          <a:prstGeom prst="roundRect">
            <a:avLst>
              <a:gd name="adj" fmla="val 20588"/>
            </a:avLst>
          </a:prstGeom>
          <a:solidFill>
            <a:srgbClr val="EEF5FC"/>
          </a:solidFill>
          <a:ln w="9525">
            <a:solidFill>
              <a:srgbClr val="84AEDD"/>
            </a:solidFill>
            <a:prstDash val="solid"/>
          </a:ln>
        </p:spPr>
        <p:txBody>
          <a:bodyPr wrap="square" lIns="76200" tIns="47625" rIns="76200" bIns="47625" anchor="ctr">
            <a:normAutofit fontScale="95780"/>
          </a:bodyPr>
          <a:lstStyle/>
          <a:p>
            <a:pPr algn="ctr"/>
            <a:r>
              <a:rPr sz="1200">
                <a:solidFill>
                  <a:srgbClr val="1F2933"/>
                </a:solidFill>
                <a:latin typeface="Aptos"/>
              </a:rPr>
              <a:t>Domain Services</a:t>
            </a:r>
          </a:p>
        </p:txBody>
      </p:sp>
      <p:sp>
        <p:nvSpPr>
          <p:cNvPr id="29" name="domain-model">
            <a:extLst>
              <a:ext uri="{FF2B5EF4-FFF2-40B4-BE49-F238E27FC236}">
                <a16:creationId xmlns:a16="http://schemas.microsoft.com/office/drawing/2014/main" id="{CDCA25C0-A04F-45D4-AEAA-A314A5D3A477}"/>
              </a:ext>
            </a:extLst>
          </p:cNvPr>
          <p:cNvSpPr>
            <a:spLocks noGrp="1"/>
          </p:cNvSpPr>
          <p:nvPr/>
        </p:nvSpPr>
        <p:spPr>
          <a:xfrm>
            <a:off x="2047875" y="4467225"/>
            <a:ext cx="2143125" cy="323850"/>
          </a:xfrm>
          <a:prstGeom prst="roundRect">
            <a:avLst>
              <a:gd name="adj" fmla="val 20588"/>
            </a:avLst>
          </a:prstGeom>
          <a:solidFill>
            <a:srgbClr val="EEF5FC"/>
          </a:solidFill>
          <a:ln w="9525">
            <a:solidFill>
              <a:srgbClr val="84AEDD"/>
            </a:solidFill>
            <a:prstDash val="solid"/>
          </a:ln>
        </p:spPr>
        <p:txBody>
          <a:bodyPr wrap="square" lIns="76200" tIns="47625" rIns="76200" bIns="47625" anchor="ctr">
            <a:normAutofit fontScale="95780"/>
          </a:bodyPr>
          <a:lstStyle/>
          <a:p>
            <a:pPr algn="ctr"/>
            <a:r>
              <a:rPr sz="1200">
                <a:solidFill>
                  <a:srgbClr val="1F2933"/>
                </a:solidFill>
                <a:latin typeface="Aptos"/>
              </a:rPr>
              <a:t>Domain Model</a:t>
            </a:r>
          </a:p>
        </p:txBody>
      </p:sp>
      <p:sp>
        <p:nvSpPr>
          <p:cNvPr id="30" name="query-data-access">
            <a:extLst>
              <a:ext uri="{FF2B5EF4-FFF2-40B4-BE49-F238E27FC236}">
                <a16:creationId xmlns:a16="http://schemas.microsoft.com/office/drawing/2014/main" id="{EA547D78-9FA0-49DE-8E94-CB75D38FA0B6}"/>
              </a:ext>
            </a:extLst>
          </p:cNvPr>
          <p:cNvSpPr>
            <a:spLocks noGrp="1"/>
          </p:cNvSpPr>
          <p:nvPr/>
        </p:nvSpPr>
        <p:spPr>
          <a:xfrm>
            <a:off x="4804001" y="4286250"/>
            <a:ext cx="2143125" cy="361950"/>
          </a:xfrm>
          <a:prstGeom prst="roundRect">
            <a:avLst>
              <a:gd name="adj" fmla="val 18421"/>
            </a:avLst>
          </a:prstGeom>
          <a:solidFill>
            <a:srgbClr val="F6F0FB"/>
          </a:solidFill>
          <a:ln w="9525">
            <a:solidFill>
              <a:srgbClr val="B79AD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/>
            <a:r>
              <a:rPr sz="1200">
                <a:solidFill>
                  <a:srgbClr val="1F2933"/>
                </a:solidFill>
                <a:latin typeface="Aptos"/>
              </a:rPr>
              <a:t>Query Data Access</a:t>
            </a:r>
          </a:p>
        </p:txBody>
      </p:sp>
      <p:sp>
        <p:nvSpPr>
          <p:cNvPr id="31" name="repositories-dbcontext">
            <a:extLst>
              <a:ext uri="{FF2B5EF4-FFF2-40B4-BE49-F238E27FC236}">
                <a16:creationId xmlns:a16="http://schemas.microsoft.com/office/drawing/2014/main" id="{2890D938-A1B7-4763-80B3-7596B3CB0AC1}"/>
              </a:ext>
            </a:extLst>
          </p:cNvPr>
          <p:cNvSpPr>
            <a:spLocks noGrp="1"/>
          </p:cNvSpPr>
          <p:nvPr/>
        </p:nvSpPr>
        <p:spPr>
          <a:xfrm>
            <a:off x="2047875" y="5143500"/>
            <a:ext cx="2143125" cy="457200"/>
          </a:xfrm>
          <a:prstGeom prst="roundRect">
            <a:avLst>
              <a:gd name="adj" fmla="val 14583"/>
            </a:avLst>
          </a:prstGeom>
          <a:solidFill>
            <a:srgbClr val="EEF5FC"/>
          </a:solidFill>
          <a:ln w="9525">
            <a:solidFill>
              <a:srgbClr val="84AEDD"/>
            </a:solidFill>
            <a:prstDash val="solid"/>
          </a:ln>
        </p:spPr>
        <p:txBody>
          <a:bodyPr wrap="square" lIns="76200" tIns="47625" rIns="76200" bIns="47625" anchor="ctr">
            <a:normAutofit fontScale="95780"/>
          </a:bodyPr>
          <a:lstStyle/>
          <a:p>
            <a:pPr algn="ctr"/>
            <a:r>
              <a:rPr lang="en-US" sz="1200" dirty="0">
                <a:solidFill>
                  <a:srgbClr val="1F2933"/>
                </a:solidFill>
                <a:latin typeface="Aptos"/>
              </a:rPr>
              <a:t>         </a:t>
            </a:r>
            <a:r>
              <a:rPr sz="1200" dirty="0">
                <a:solidFill>
                  <a:srgbClr val="1F2933"/>
                </a:solidFill>
                <a:latin typeface="Aptos"/>
              </a:rPr>
              <a:t>Repositories and DbContext</a:t>
            </a:r>
          </a:p>
        </p:txBody>
      </p:sp>
      <p:sp>
        <p:nvSpPr>
          <p:cNvPr id="32" name="read-infrastructure">
            <a:extLst>
              <a:ext uri="{FF2B5EF4-FFF2-40B4-BE49-F238E27FC236}">
                <a16:creationId xmlns:a16="http://schemas.microsoft.com/office/drawing/2014/main" id="{A7FAD6BE-1825-4771-A3D5-C5706EE3A27B}"/>
              </a:ext>
            </a:extLst>
          </p:cNvPr>
          <p:cNvSpPr>
            <a:spLocks noGrp="1"/>
          </p:cNvSpPr>
          <p:nvPr/>
        </p:nvSpPr>
        <p:spPr>
          <a:xfrm>
            <a:off x="4804001" y="5143500"/>
            <a:ext cx="2143125" cy="457200"/>
          </a:xfrm>
          <a:prstGeom prst="roundRect">
            <a:avLst>
              <a:gd name="adj" fmla="val 14583"/>
            </a:avLst>
          </a:prstGeom>
          <a:solidFill>
            <a:srgbClr val="F6F0FB"/>
          </a:solidFill>
          <a:ln w="9525">
            <a:solidFill>
              <a:srgbClr val="B79AD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Read Infrastructure</a:t>
            </a:r>
          </a:p>
        </p:txBody>
      </p:sp>
      <p:sp>
        <p:nvSpPr>
          <p:cNvPr id="34" name="integration-event-adapters">
            <a:extLst>
              <a:ext uri="{FF2B5EF4-FFF2-40B4-BE49-F238E27FC236}">
                <a16:creationId xmlns:a16="http://schemas.microsoft.com/office/drawing/2014/main" id="{DBF3D221-B51C-41DC-8570-76F609C0B2D0}"/>
              </a:ext>
            </a:extLst>
          </p:cNvPr>
          <p:cNvSpPr>
            <a:spLocks noGrp="1"/>
          </p:cNvSpPr>
          <p:nvPr/>
        </p:nvSpPr>
        <p:spPr>
          <a:xfrm>
            <a:off x="7274378" y="5143500"/>
            <a:ext cx="2103120" cy="457200"/>
          </a:xfrm>
          <a:prstGeom prst="roundRect">
            <a:avLst>
              <a:gd name="adj" fmla="val 14583"/>
            </a:avLst>
          </a:prstGeom>
          <a:solidFill>
            <a:srgbClr val="F7F8FA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47625" rIns="76200" bIns="47625" anchor="ctr">
            <a:normAutofit fontScale="88280" lnSpcReduction="10000"/>
          </a:bodyPr>
          <a:lstStyle/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Integration Event</a:t>
            </a:r>
          </a:p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Adapters</a:t>
            </a:r>
          </a:p>
        </p:txBody>
      </p:sp>
      <p:sp>
        <p:nvSpPr>
          <p:cNvPr id="35" name="cross-module-read-store">
            <a:extLst>
              <a:ext uri="{FF2B5EF4-FFF2-40B4-BE49-F238E27FC236}">
                <a16:creationId xmlns:a16="http://schemas.microsoft.com/office/drawing/2014/main" id="{76EC0818-15E8-4F85-A617-7FA57B36900F}"/>
              </a:ext>
            </a:extLst>
          </p:cNvPr>
          <p:cNvSpPr>
            <a:spLocks noGrp="1"/>
          </p:cNvSpPr>
          <p:nvPr/>
        </p:nvSpPr>
        <p:spPr>
          <a:xfrm>
            <a:off x="9704750" y="5143500"/>
            <a:ext cx="2103120" cy="457200"/>
          </a:xfrm>
          <a:prstGeom prst="roundRect">
            <a:avLst>
              <a:gd name="adj" fmla="val 14583"/>
            </a:avLst>
          </a:prstGeom>
          <a:solidFill>
            <a:srgbClr val="F7F8FA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47625" rIns="76200" bIns="47625" anchor="ctr">
            <a:normAutofit fontScale="88280" lnSpcReduction="10000"/>
          </a:bodyPr>
          <a:lstStyle/>
          <a:p>
            <a:pPr algn="ctr"/>
            <a:r>
              <a:rPr sz="1200">
                <a:solidFill>
                  <a:srgbClr val="1F2933"/>
                </a:solidFill>
                <a:latin typeface="Aptos"/>
              </a:rPr>
              <a:t>Cross-Module</a:t>
            </a:r>
          </a:p>
          <a:p>
            <a:pPr algn="ctr"/>
            <a:r>
              <a:rPr sz="1200">
                <a:solidFill>
                  <a:srgbClr val="1F2933"/>
                </a:solidFill>
                <a:latin typeface="Aptos"/>
              </a:rPr>
              <a:t>Read Store</a:t>
            </a:r>
          </a:p>
        </p:txBody>
      </p:sp>
      <p:sp>
        <p:nvSpPr>
          <p:cNvPr id="36" name="framework">
            <a:extLst>
              <a:ext uri="{FF2B5EF4-FFF2-40B4-BE49-F238E27FC236}">
                <a16:creationId xmlns:a16="http://schemas.microsoft.com/office/drawing/2014/main" id="{BD706E17-411D-4CAF-8E38-02C41ED58D78}"/>
              </a:ext>
            </a:extLst>
          </p:cNvPr>
          <p:cNvSpPr>
            <a:spLocks noGrp="1"/>
          </p:cNvSpPr>
          <p:nvPr/>
        </p:nvSpPr>
        <p:spPr>
          <a:xfrm>
            <a:off x="2047875" y="6134100"/>
            <a:ext cx="2047875" cy="40005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Framework.*</a:t>
            </a:r>
          </a:p>
        </p:txBody>
      </p:sp>
      <p:sp>
        <p:nvSpPr>
          <p:cNvPr id="37" name="ef-sql">
            <a:extLst>
              <a:ext uri="{FF2B5EF4-FFF2-40B4-BE49-F238E27FC236}">
                <a16:creationId xmlns:a16="http://schemas.microsoft.com/office/drawing/2014/main" id="{3A4EBCCA-4ED7-446B-801F-BD62559ECD29}"/>
              </a:ext>
            </a:extLst>
          </p:cNvPr>
          <p:cNvSpPr>
            <a:spLocks noGrp="1"/>
          </p:cNvSpPr>
          <p:nvPr/>
        </p:nvSpPr>
        <p:spPr>
          <a:xfrm>
            <a:off x="4476750" y="613410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EF Core · SQL Server</a:t>
            </a:r>
          </a:p>
        </p:txBody>
      </p:sp>
      <p:sp>
        <p:nvSpPr>
          <p:cNvPr id="38" name="messaging-technology">
            <a:extLst>
              <a:ext uri="{FF2B5EF4-FFF2-40B4-BE49-F238E27FC236}">
                <a16:creationId xmlns:a16="http://schemas.microsoft.com/office/drawing/2014/main" id="{4533E63F-77E9-4857-96C1-3501A431C2DE}"/>
              </a:ext>
            </a:extLst>
          </p:cNvPr>
          <p:cNvSpPr>
            <a:spLocks noGrp="1"/>
          </p:cNvSpPr>
          <p:nvPr/>
        </p:nvSpPr>
        <p:spPr>
          <a:xfrm>
            <a:off x="6953250" y="6134100"/>
            <a:ext cx="2809875" cy="40005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CAP · MassTransit · Message Broker</a:t>
            </a:r>
          </a:p>
        </p:txBody>
      </p:sp>
      <p:sp>
        <p:nvSpPr>
          <p:cNvPr id="39" name="scheduling-technology">
            <a:extLst>
              <a:ext uri="{FF2B5EF4-FFF2-40B4-BE49-F238E27FC236}">
                <a16:creationId xmlns:a16="http://schemas.microsoft.com/office/drawing/2014/main" id="{39700F15-98E8-426B-A27C-411112313A89}"/>
              </a:ext>
            </a:extLst>
          </p:cNvPr>
          <p:cNvSpPr>
            <a:spLocks noGrp="1"/>
          </p:cNvSpPr>
          <p:nvPr/>
        </p:nvSpPr>
        <p:spPr>
          <a:xfrm>
            <a:off x="10144125" y="6134100"/>
            <a:ext cx="1809750" cy="40005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Quartz · DurableTask</a:t>
            </a:r>
          </a:p>
        </p:txBody>
      </p:sp>
      <p:cxnSp>
        <p:nvCxnSpPr>
          <p:cNvPr id="99" name="web-to-http"/>
          <p:cNvCxnSpPr>
            <a:cxnSpLocks/>
            <a:stCxn id="15" idx="2"/>
            <a:endCxn id="16" idx="0"/>
          </p:cNvCxnSpPr>
          <p:nvPr/>
        </p:nvCxnSpPr>
        <p:spPr>
          <a:xfrm>
            <a:off x="3623310" y="470211"/>
            <a:ext cx="0" cy="236483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0" name="scheduling-to-job"/>
          <p:cNvCxnSpPr>
            <a:cxnSpLocks/>
            <a:stCxn id="17" idx="2"/>
            <a:endCxn id="18" idx="0"/>
          </p:cNvCxnSpPr>
          <p:nvPr/>
        </p:nvCxnSpPr>
        <p:spPr>
          <a:xfrm>
            <a:off x="6714915" y="479736"/>
            <a:ext cx="0" cy="22695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messaging-to-consumer"/>
          <p:cNvCxnSpPr>
            <a:cxnSpLocks/>
            <a:stCxn id="19" idx="2"/>
            <a:endCxn id="20" idx="0"/>
          </p:cNvCxnSpPr>
          <p:nvPr/>
        </p:nvCxnSpPr>
        <p:spPr>
          <a:xfrm>
            <a:off x="10048601" y="479736"/>
            <a:ext cx="0" cy="22695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6" name="middleware-wraps-runtime"/>
          <p:cNvCxnSpPr>
            <a:cxnSpLocks/>
            <a:stCxn id="25" idx="1"/>
            <a:endCxn id="24" idx="3"/>
          </p:cNvCxnSpPr>
          <p:nvPr/>
        </p:nvCxnSpPr>
        <p:spPr>
          <a:xfrm flipH="1">
            <a:off x="6947126" y="2514599"/>
            <a:ext cx="333416" cy="1"/>
          </a:xfrm>
          <a:prstGeom prst="straightConnector1">
            <a:avLst/>
          </a:prstGeom>
          <a:ln w="19050">
            <a:solidFill>
              <a:srgbClr val="2463B5"/>
            </a:solidFill>
            <a:prstDash val="dash"/>
            <a:headEnd type="triangle" w="sm" len="sm"/>
            <a:tailEnd type="triangle" w="sm" len="sm"/>
          </a:ln>
        </p:spPr>
      </p:cxnSp>
      <p:cxnSp>
        <p:nvCxnSpPr>
          <p:cNvPr id="107" name="runtime-to-command"/>
          <p:cNvCxnSpPr>
            <a:cxnSpLocks/>
            <a:stCxn id="24" idx="2"/>
            <a:endCxn id="26" idx="0"/>
          </p:cNvCxnSpPr>
          <p:nvPr/>
        </p:nvCxnSpPr>
        <p:spPr>
          <a:xfrm rot="5400000">
            <a:off x="3613208" y="2316106"/>
            <a:ext cx="390525" cy="1378063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runtime-to-query"/>
          <p:cNvCxnSpPr>
            <a:cxnSpLocks/>
            <a:stCxn id="24" idx="2"/>
            <a:endCxn id="27" idx="0"/>
          </p:cNvCxnSpPr>
          <p:nvPr/>
        </p:nvCxnSpPr>
        <p:spPr>
          <a:xfrm rot="16200000" flipH="1">
            <a:off x="4991270" y="2316105"/>
            <a:ext cx="390525" cy="1378063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9" name="command-to-domain-services"/>
          <p:cNvCxnSpPr>
            <a:stCxn id="26" idx="2"/>
            <a:endCxn id="28" idx="0"/>
          </p:cNvCxnSpPr>
          <p:nvPr/>
        </p:nvCxnSpPr>
        <p:spPr>
          <a:xfrm>
            <a:off x="3119438" y="3600450"/>
            <a:ext cx="0" cy="428625"/>
          </a:xfrm>
          <a:prstGeom prst="straightConnector1">
            <a:avLst/>
          </a:prstGeom>
          <a:ln w="28575">
            <a:headEnd type="none" w="med" len="med"/>
            <a:tailEnd type="arrow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0" name="domain-services-to-domain"/>
          <p:cNvCxnSpPr>
            <a:stCxn id="28" idx="2"/>
            <a:endCxn id="29" idx="0"/>
          </p:cNvCxnSpPr>
          <p:nvPr/>
        </p:nvCxnSpPr>
        <p:spPr>
          <a:xfrm>
            <a:off x="3119438" y="4352925"/>
            <a:ext cx="0" cy="11430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1" name="domain-to-persistence"/>
          <p:cNvCxnSpPr>
            <a:cxnSpLocks/>
            <a:stCxn id="29" idx="2"/>
            <a:endCxn id="31" idx="0"/>
          </p:cNvCxnSpPr>
          <p:nvPr/>
        </p:nvCxnSpPr>
        <p:spPr>
          <a:xfrm>
            <a:off x="3119438" y="4791075"/>
            <a:ext cx="0" cy="352425"/>
          </a:xfrm>
          <a:prstGeom prst="straightConnector1">
            <a:avLst/>
          </a:prstGeom>
          <a:ln w="28575">
            <a:headEnd type="none" w="med" len="med"/>
            <a:tailEnd type="arrow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2" name="query-to-access"/>
          <p:cNvCxnSpPr>
            <a:stCxn id="27" idx="2"/>
            <a:endCxn id="30" idx="0"/>
          </p:cNvCxnSpPr>
          <p:nvPr/>
        </p:nvCxnSpPr>
        <p:spPr>
          <a:xfrm>
            <a:off x="5875564" y="3600450"/>
            <a:ext cx="0" cy="685800"/>
          </a:xfrm>
          <a:prstGeom prst="straightConnector1">
            <a:avLst/>
          </a:prstGeom>
          <a:ln w="28575">
            <a:headEnd type="none" w="med" len="med"/>
            <a:tailEnd type="arrow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3" name="query-access-to-read-infra"/>
          <p:cNvCxnSpPr>
            <a:cxnSpLocks/>
            <a:stCxn id="30" idx="2"/>
            <a:endCxn id="32" idx="0"/>
          </p:cNvCxnSpPr>
          <p:nvPr/>
        </p:nvCxnSpPr>
        <p:spPr>
          <a:xfrm>
            <a:off x="5875564" y="4648200"/>
            <a:ext cx="0" cy="495300"/>
          </a:xfrm>
          <a:prstGeom prst="straightConnector1">
            <a:avLst/>
          </a:prstGeom>
          <a:ln w="28575">
            <a:headEnd type="none" w="med" len="med"/>
            <a:tailEnd type="arrow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4" name="cross-querying-to-store"/>
          <p:cNvCxnSpPr>
            <a:cxnSpLocks/>
            <a:stCxn id="23" idx="2"/>
            <a:endCxn id="35" idx="0"/>
          </p:cNvCxnSpPr>
          <p:nvPr/>
        </p:nvCxnSpPr>
        <p:spPr>
          <a:xfrm>
            <a:off x="10756309" y="1766888"/>
            <a:ext cx="1" cy="3376612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arrow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6" name="framework-boundary-guide">
            <a:extLst>
              <a:ext uri="{FF2B5EF4-FFF2-40B4-BE49-F238E27FC236}">
                <a16:creationId xmlns:a16="http://schemas.microsoft.com/office/drawing/2014/main" id="{B0BAFEE4-D12A-4BCF-873E-AB9E0B45FB98}"/>
              </a:ext>
            </a:extLst>
          </p:cNvPr>
          <p:cNvSpPr>
            <a:spLocks noGrp="1"/>
          </p:cNvSpPr>
          <p:nvPr/>
        </p:nvSpPr>
        <p:spPr>
          <a:xfrm>
            <a:off x="3067050" y="5876925"/>
            <a:ext cx="0" cy="1905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ef-boundary-guide">
            <a:extLst>
              <a:ext uri="{FF2B5EF4-FFF2-40B4-BE49-F238E27FC236}">
                <a16:creationId xmlns:a16="http://schemas.microsoft.com/office/drawing/2014/main" id="{117CB7DC-B310-4C1A-A989-11103F501E81}"/>
              </a:ext>
            </a:extLst>
          </p:cNvPr>
          <p:cNvSpPr>
            <a:spLocks noGrp="1"/>
          </p:cNvSpPr>
          <p:nvPr/>
        </p:nvSpPr>
        <p:spPr>
          <a:xfrm>
            <a:off x="5524500" y="5876925"/>
            <a:ext cx="0" cy="1905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messaging-boundary-guide">
            <a:extLst>
              <a:ext uri="{FF2B5EF4-FFF2-40B4-BE49-F238E27FC236}">
                <a16:creationId xmlns:a16="http://schemas.microsoft.com/office/drawing/2014/main" id="{D3CB2370-3280-4F95-B6D7-D0D1796456AC}"/>
              </a:ext>
            </a:extLst>
          </p:cNvPr>
          <p:cNvSpPr>
            <a:spLocks noGrp="1"/>
          </p:cNvSpPr>
          <p:nvPr/>
        </p:nvSpPr>
        <p:spPr>
          <a:xfrm>
            <a:off x="8353425" y="5876925"/>
            <a:ext cx="0" cy="1905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59" name="scheduling-boundary-guide">
            <a:extLst>
              <a:ext uri="{FF2B5EF4-FFF2-40B4-BE49-F238E27FC236}">
                <a16:creationId xmlns:a16="http://schemas.microsoft.com/office/drawing/2014/main" id="{A860ADAA-3475-4331-A09F-0D9039C3CC76}"/>
              </a:ext>
            </a:extLst>
          </p:cNvPr>
          <p:cNvSpPr>
            <a:spLocks noGrp="1"/>
          </p:cNvSpPr>
          <p:nvPr/>
        </p:nvSpPr>
        <p:spPr>
          <a:xfrm>
            <a:off x="11049000" y="5876925"/>
            <a:ext cx="0" cy="1905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cxnSp>
        <p:nvCxnSpPr>
          <p:cNvPr id="123" name="job-optional-process-manager">
            <a:extLst>
              <a:ext uri="{FF2B5EF4-FFF2-40B4-BE49-F238E27FC236}">
                <a16:creationId xmlns:a16="http://schemas.microsoft.com/office/drawing/2014/main" id="{6105B187-8559-9161-AC77-221A99B13ECE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4497501" y="1181100"/>
            <a:ext cx="0" cy="1038225"/>
          </a:xfrm>
          <a:prstGeom prst="straightConnector1">
            <a:avLst/>
          </a:prstGeom>
          <a:ln w="28575">
            <a:headEnd type="none" w="med" len="med"/>
            <a:tailEnd type="arrow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2" name="Graphic 131" descr="Internet with solid fill">
            <a:extLst>
              <a:ext uri="{FF2B5EF4-FFF2-40B4-BE49-F238E27FC236}">
                <a16:creationId xmlns:a16="http://schemas.microsoft.com/office/drawing/2014/main" id="{394CCD1D-CE47-2EE1-2149-7620B1776F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3016" y="167316"/>
            <a:ext cx="323884" cy="323884"/>
          </a:xfrm>
          <a:prstGeom prst="rect">
            <a:avLst/>
          </a:prstGeom>
        </p:spPr>
      </p:pic>
      <p:pic>
        <p:nvPicPr>
          <p:cNvPr id="136" name="Graphic 135" descr="Clock with solid fill">
            <a:extLst>
              <a:ext uri="{FF2B5EF4-FFF2-40B4-BE49-F238E27FC236}">
                <a16:creationId xmlns:a16="http://schemas.microsoft.com/office/drawing/2014/main" id="{DC314665-866A-C4B9-3BC4-478B9BC42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6682" y="167316"/>
            <a:ext cx="320040" cy="320040"/>
          </a:xfrm>
          <a:prstGeom prst="rect">
            <a:avLst/>
          </a:prstGeom>
        </p:spPr>
      </p:pic>
      <p:pic>
        <p:nvPicPr>
          <p:cNvPr id="144" name="Graphic 143" descr="Envelope with solid fill">
            <a:extLst>
              <a:ext uri="{FF2B5EF4-FFF2-40B4-BE49-F238E27FC236}">
                <a16:creationId xmlns:a16="http://schemas.microsoft.com/office/drawing/2014/main" id="{FD5E8AAA-6F80-DB80-5275-2022A12735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4787" y="167316"/>
            <a:ext cx="320040" cy="320040"/>
          </a:xfrm>
          <a:prstGeom prst="rect">
            <a:avLst/>
          </a:prstGeom>
        </p:spPr>
      </p:pic>
      <p:pic>
        <p:nvPicPr>
          <p:cNvPr id="157" name="Graphic 156" descr="Database with solid fill">
            <a:extLst>
              <a:ext uri="{FF2B5EF4-FFF2-40B4-BE49-F238E27FC236}">
                <a16:creationId xmlns:a16="http://schemas.microsoft.com/office/drawing/2014/main" id="{26DB0196-0C76-DF6E-8940-D5338BDC8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6951" y="5212263"/>
            <a:ext cx="320040" cy="320040"/>
          </a:xfrm>
          <a:prstGeom prst="rect">
            <a:avLst/>
          </a:prstGeom>
        </p:spPr>
      </p:pic>
      <p:pic>
        <p:nvPicPr>
          <p:cNvPr id="159" name="Graphic 158" descr="Gears with solid fill">
            <a:extLst>
              <a:ext uri="{FF2B5EF4-FFF2-40B4-BE49-F238E27FC236}">
                <a16:creationId xmlns:a16="http://schemas.microsoft.com/office/drawing/2014/main" id="{680D0717-5A6A-AA62-49B3-68A04D2007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70785" y="2290763"/>
            <a:ext cx="457200" cy="457200"/>
          </a:xfrm>
          <a:prstGeom prst="rect">
            <a:avLst/>
          </a:prstGeom>
        </p:spPr>
      </p:pic>
      <p:pic>
        <p:nvPicPr>
          <p:cNvPr id="179" name="Graphic 178" descr="Database with solid fill">
            <a:extLst>
              <a:ext uri="{FF2B5EF4-FFF2-40B4-BE49-F238E27FC236}">
                <a16:creationId xmlns:a16="http://schemas.microsoft.com/office/drawing/2014/main" id="{38B4BF67-0713-2C19-6EBA-20EF2D227D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4968" y="5212080"/>
            <a:ext cx="320040" cy="320040"/>
          </a:xfrm>
          <a:prstGeom prst="rect">
            <a:avLst/>
          </a:prstGeom>
        </p:spPr>
      </p:pic>
      <p:grpSp>
        <p:nvGrpSpPr>
          <p:cNvPr id="241" name="Group 240">
            <a:extLst>
              <a:ext uri="{FF2B5EF4-FFF2-40B4-BE49-F238E27FC236}">
                <a16:creationId xmlns:a16="http://schemas.microsoft.com/office/drawing/2014/main" id="{7A26D6F0-F557-A0B9-7719-026FED0CE5E6}"/>
              </a:ext>
            </a:extLst>
          </p:cNvPr>
          <p:cNvGrpSpPr/>
          <p:nvPr/>
        </p:nvGrpSpPr>
        <p:grpSpPr>
          <a:xfrm>
            <a:off x="9074386" y="2259516"/>
            <a:ext cx="1110822" cy="274320"/>
            <a:chOff x="9243542" y="2259516"/>
            <a:chExt cx="1110822" cy="274320"/>
          </a:xfrm>
        </p:grpSpPr>
        <p:pic>
          <p:nvPicPr>
            <p:cNvPr id="181" name="Graphic 180" descr="Gauge with solid fill">
              <a:extLst>
                <a:ext uri="{FF2B5EF4-FFF2-40B4-BE49-F238E27FC236}">
                  <a16:creationId xmlns:a16="http://schemas.microsoft.com/office/drawing/2014/main" id="{E0FBD8AB-DBC4-6975-05C9-0561793555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43542" y="2259516"/>
              <a:ext cx="274320" cy="274320"/>
            </a:xfrm>
            <a:prstGeom prst="rect">
              <a:avLst/>
            </a:prstGeom>
          </p:spPr>
        </p:pic>
        <p:pic>
          <p:nvPicPr>
            <p:cNvPr id="183" name="Graphic 182" descr="Heartbeat with solid fill">
              <a:extLst>
                <a:ext uri="{FF2B5EF4-FFF2-40B4-BE49-F238E27FC236}">
                  <a16:creationId xmlns:a16="http://schemas.microsoft.com/office/drawing/2014/main" id="{046430D2-6381-258A-111E-F5E3DB9D21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661793" y="2259516"/>
              <a:ext cx="274320" cy="274320"/>
            </a:xfrm>
            <a:prstGeom prst="rect">
              <a:avLst/>
            </a:prstGeom>
          </p:spPr>
        </p:pic>
        <p:pic>
          <p:nvPicPr>
            <p:cNvPr id="185" name="Graphic 184" descr="Lock with solid fill">
              <a:extLst>
                <a:ext uri="{FF2B5EF4-FFF2-40B4-BE49-F238E27FC236}">
                  <a16:creationId xmlns:a16="http://schemas.microsoft.com/office/drawing/2014/main" id="{6E769858-3379-8B82-D22B-F67E5D0BE4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080044" y="2259516"/>
              <a:ext cx="274320" cy="274320"/>
            </a:xfrm>
            <a:prstGeom prst="rect">
              <a:avLst/>
            </a:prstGeom>
          </p:spPr>
        </p:pic>
      </p:grpSp>
      <p:cxnSp>
        <p:nvCxnSpPr>
          <p:cNvPr id="192" name="cross-querying-to-store">
            <a:extLst>
              <a:ext uri="{FF2B5EF4-FFF2-40B4-BE49-F238E27FC236}">
                <a16:creationId xmlns:a16="http://schemas.microsoft.com/office/drawing/2014/main" id="{B4E8B7A7-3208-EBA6-EA9E-A59F43E0EA7E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8287294" y="2809873"/>
            <a:ext cx="0" cy="233362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arrow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03" name="Graphic 202" descr="Network with solid fill">
            <a:extLst>
              <a:ext uri="{FF2B5EF4-FFF2-40B4-BE49-F238E27FC236}">
                <a16:creationId xmlns:a16="http://schemas.microsoft.com/office/drawing/2014/main" id="{3F9AEA83-1BB3-95C5-0592-A65B228992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33855" y="5189220"/>
            <a:ext cx="365760" cy="365760"/>
          </a:xfrm>
          <a:prstGeom prst="rect">
            <a:avLst/>
          </a:prstGeom>
        </p:spPr>
      </p:pic>
      <p:pic>
        <p:nvPicPr>
          <p:cNvPr id="205" name="Graphic 204" descr="Single gear with solid fill">
            <a:extLst>
              <a:ext uri="{FF2B5EF4-FFF2-40B4-BE49-F238E27FC236}">
                <a16:creationId xmlns:a16="http://schemas.microsoft.com/office/drawing/2014/main" id="{00BCBC3C-C22E-4F66-C66D-67C8E3966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71562" y="4053840"/>
            <a:ext cx="274320" cy="274320"/>
          </a:xfrm>
          <a:prstGeom prst="rect">
            <a:avLst/>
          </a:prstGeom>
        </p:spPr>
      </p:pic>
      <p:pic>
        <p:nvPicPr>
          <p:cNvPr id="207" name="Graphic 206" descr="Database with solid fill">
            <a:extLst>
              <a:ext uri="{FF2B5EF4-FFF2-40B4-BE49-F238E27FC236}">
                <a16:creationId xmlns:a16="http://schemas.microsoft.com/office/drawing/2014/main" id="{FA3F84C3-D262-BBED-E983-C8385DEF6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53415" y="5197510"/>
            <a:ext cx="320040" cy="320040"/>
          </a:xfrm>
          <a:prstGeom prst="rect">
            <a:avLst/>
          </a:prstGeom>
        </p:spPr>
      </p:pic>
      <p:pic>
        <p:nvPicPr>
          <p:cNvPr id="212" name="Graphic 211" descr="Braille with solid fill">
            <a:extLst>
              <a:ext uri="{FF2B5EF4-FFF2-40B4-BE49-F238E27FC236}">
                <a16:creationId xmlns:a16="http://schemas.microsoft.com/office/drawing/2014/main" id="{23D2F8C9-CA95-1EA1-5A0D-CBDB407D30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71562" y="3272234"/>
            <a:ext cx="274320" cy="274320"/>
          </a:xfrm>
          <a:prstGeom prst="rect">
            <a:avLst/>
          </a:prstGeom>
        </p:spPr>
      </p:pic>
      <p:pic>
        <p:nvPicPr>
          <p:cNvPr id="214" name="Graphic 213" descr="Atom with solid fill">
            <a:extLst>
              <a:ext uri="{FF2B5EF4-FFF2-40B4-BE49-F238E27FC236}">
                <a16:creationId xmlns:a16="http://schemas.microsoft.com/office/drawing/2014/main" id="{B22359AC-1F8D-1283-DC4A-DFEE732576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71562" y="4490996"/>
            <a:ext cx="274320" cy="274320"/>
          </a:xfrm>
          <a:prstGeom prst="rect">
            <a:avLst/>
          </a:prstGeom>
        </p:spPr>
      </p:pic>
      <p:pic>
        <p:nvPicPr>
          <p:cNvPr id="216" name="Graphic 215" descr="Pie chart with solid fill">
            <a:extLst>
              <a:ext uri="{FF2B5EF4-FFF2-40B4-BE49-F238E27FC236}">
                <a16:creationId xmlns:a16="http://schemas.microsoft.com/office/drawing/2014/main" id="{33355504-CDF3-7E6C-E912-E5F3B2EB6F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05081" y="4337368"/>
            <a:ext cx="274320" cy="274320"/>
          </a:xfrm>
          <a:prstGeom prst="rect">
            <a:avLst/>
          </a:prstGeom>
        </p:spPr>
      </p:pic>
      <p:pic>
        <p:nvPicPr>
          <p:cNvPr id="218" name="Graphic 217" descr="Research with solid fill">
            <a:extLst>
              <a:ext uri="{FF2B5EF4-FFF2-40B4-BE49-F238E27FC236}">
                <a16:creationId xmlns:a16="http://schemas.microsoft.com/office/drawing/2014/main" id="{74958BAD-F3C4-58B4-295B-9CC59FBF8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23501" y="3275843"/>
            <a:ext cx="274320" cy="274320"/>
          </a:xfrm>
          <a:prstGeom prst="rect">
            <a:avLst/>
          </a:prstGeom>
        </p:spPr>
      </p:pic>
      <p:pic>
        <p:nvPicPr>
          <p:cNvPr id="260" name="Graphic 259" descr="Database with solid fill">
            <a:extLst>
              <a:ext uri="{FF2B5EF4-FFF2-40B4-BE49-F238E27FC236}">
                <a16:creationId xmlns:a16="http://schemas.microsoft.com/office/drawing/2014/main" id="{E0B98A1F-03CC-0DDF-86EB-A42E61BA7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17429" y="1445806"/>
            <a:ext cx="274320" cy="274320"/>
          </a:xfrm>
          <a:prstGeom prst="rect">
            <a:avLst/>
          </a:prstGeom>
        </p:spPr>
      </p:pic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C4BECEEA-9993-4C50-4AA2-5B1160576CB6}"/>
              </a:ext>
            </a:extLst>
          </p:cNvPr>
          <p:cNvCxnSpPr>
            <a:cxnSpLocks/>
          </p:cNvCxnSpPr>
          <p:nvPr/>
        </p:nvCxnSpPr>
        <p:spPr>
          <a:xfrm>
            <a:off x="142681" y="1182926"/>
            <a:ext cx="11887200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6" name="Arrow: Down 245">
            <a:extLst>
              <a:ext uri="{FF2B5EF4-FFF2-40B4-BE49-F238E27FC236}">
                <a16:creationId xmlns:a16="http://schemas.microsoft.com/office/drawing/2014/main" id="{02346D27-5DE4-D0EA-A296-564DEBB9DCD8}"/>
              </a:ext>
            </a:extLst>
          </p:cNvPr>
          <p:cNvSpPr/>
          <p:nvPr/>
        </p:nvSpPr>
        <p:spPr>
          <a:xfrm>
            <a:off x="10640300" y="1073759"/>
            <a:ext cx="232017" cy="274320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Arrow: Down 247">
            <a:extLst>
              <a:ext uri="{FF2B5EF4-FFF2-40B4-BE49-F238E27FC236}">
                <a16:creationId xmlns:a16="http://schemas.microsoft.com/office/drawing/2014/main" id="{73036C02-8EAB-F01F-8E72-C873D2EDFD1D}"/>
              </a:ext>
            </a:extLst>
          </p:cNvPr>
          <p:cNvSpPr/>
          <p:nvPr/>
        </p:nvSpPr>
        <p:spPr>
          <a:xfrm>
            <a:off x="8458941" y="1073759"/>
            <a:ext cx="232017" cy="274320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3" name="job-optional-process-manager">
            <a:extLst>
              <a:ext uri="{FF2B5EF4-FFF2-40B4-BE49-F238E27FC236}">
                <a16:creationId xmlns:a16="http://schemas.microsoft.com/office/drawing/2014/main" id="{8AC1383E-C298-6E98-8A81-5FFA51D6E8FA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8574951" y="1762124"/>
            <a:ext cx="0" cy="314326"/>
          </a:xfrm>
          <a:prstGeom prst="straightConnector1">
            <a:avLst/>
          </a:prstGeom>
          <a:ln w="28575">
            <a:headEnd type="none" w="med" len="med"/>
            <a:tailEnd type="arrow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77" name="Graphic 276" descr="Venn diagram with solid fill">
            <a:extLst>
              <a:ext uri="{FF2B5EF4-FFF2-40B4-BE49-F238E27FC236}">
                <a16:creationId xmlns:a16="http://schemas.microsoft.com/office/drawing/2014/main" id="{BFC22193-145D-F674-02F8-717BC36001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00305" y="1385798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18276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227</TotalTime>
  <Words>114</Words>
  <Application>Microsoft Office PowerPoint</Application>
  <DocSecurity>0</DocSecurity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Neue Haas Grotesk Text Pro</vt:lpstr>
      <vt:lpstr>Helena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 Golshani</cp:lastModifiedBy>
  <cp:revision>86</cp:revision>
  <dcterms:created xsi:type="dcterms:W3CDTF">2026-08-20T23:14:16Z</dcterms:created>
  <dcterms:modified xsi:type="dcterms:W3CDTF">2026-08-21T07:59:39Z</dcterms:modified>
</cp:coreProperties>
</file>