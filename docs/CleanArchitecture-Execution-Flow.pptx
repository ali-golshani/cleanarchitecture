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3"/>
  </p:notes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26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EF7C-82D0-0FBB-C76E-823027398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3574FA-7838-49AF-7B43-DF24FA7CB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4975E-6B56-130E-926D-A7C66E440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Editable architecture diagram recreated from the approved project design. Solid connectors show execution flow; dashed connectors show optional or cross-cutting behavior.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DD9F3-F6DF-8FD4-5ED2-49A45E78DF6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13498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36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99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13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75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613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77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687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13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0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6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650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87075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01320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4965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48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46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53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19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4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09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117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4634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684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889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747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764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782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55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8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svg"/><Relationship Id="rId18" Type="http://schemas.openxmlformats.org/officeDocument/2006/relationships/image" Target="../media/image2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svg"/><Relationship Id="rId17" Type="http://schemas.openxmlformats.org/officeDocument/2006/relationships/image" Target="../media/image21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10" Type="http://schemas.openxmlformats.org/officeDocument/2006/relationships/image" Target="../media/image14.svg"/><Relationship Id="rId19" Type="http://schemas.openxmlformats.org/officeDocument/2006/relationships/image" Target="../media/image23.svg"/><Relationship Id="rId4" Type="http://schemas.openxmlformats.org/officeDocument/2006/relationships/image" Target="../media/image8.svg"/><Relationship Id="rId9" Type="http://schemas.openxmlformats.org/officeDocument/2006/relationships/image" Target="../media/image13.svg"/><Relationship Id="rId1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D7973-173A-7066-8E53-37FBD96D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entry-background">
            <a:extLst>
              <a:ext uri="{FF2B5EF4-FFF2-40B4-BE49-F238E27FC236}">
                <a16:creationId xmlns:a16="http://schemas.microsoft.com/office/drawing/2014/main" id="{0236E687-54FF-9FE4-8D0F-74638F367CD8}"/>
              </a:ext>
            </a:extLst>
          </p:cNvPr>
          <p:cNvSpPr>
            <a:spLocks noGrp="1"/>
          </p:cNvSpPr>
          <p:nvPr/>
        </p:nvSpPr>
        <p:spPr>
          <a:xfrm>
            <a:off x="76200" y="76200"/>
            <a:ext cx="12039600" cy="1163876"/>
          </a:xfrm>
          <a:prstGeom prst="roundRect">
            <a:avLst>
              <a:gd name="adj" fmla="val 5556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entry-label">
            <a:extLst>
              <a:ext uri="{FF2B5EF4-FFF2-40B4-BE49-F238E27FC236}">
                <a16:creationId xmlns:a16="http://schemas.microsoft.com/office/drawing/2014/main" id="{5B76DBE8-FCB6-839A-2534-6BAD27AC3F66}"/>
              </a:ext>
            </a:extLst>
          </p:cNvPr>
          <p:cNvSpPr>
            <a:spLocks noGrp="1"/>
          </p:cNvSpPr>
          <p:nvPr/>
        </p:nvSpPr>
        <p:spPr>
          <a:xfrm>
            <a:off x="133350" y="133348"/>
            <a:ext cx="1645920" cy="1060704"/>
          </a:xfrm>
          <a:prstGeom prst="roundRect">
            <a:avLst>
              <a:gd name="adj" fmla="val 5208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APPLICATION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ENTRY POINTS</a:t>
            </a:r>
          </a:p>
        </p:txBody>
      </p:sp>
      <p:sp>
        <p:nvSpPr>
          <p:cNvPr id="3" name="cross-module-background">
            <a:extLst>
              <a:ext uri="{FF2B5EF4-FFF2-40B4-BE49-F238E27FC236}">
                <a16:creationId xmlns:a16="http://schemas.microsoft.com/office/drawing/2014/main" id="{C42344CD-F475-C4B6-F2D3-2581A6E7D3BC}"/>
              </a:ext>
            </a:extLst>
          </p:cNvPr>
          <p:cNvSpPr>
            <a:spLocks noGrp="1"/>
          </p:cNvSpPr>
          <p:nvPr/>
        </p:nvSpPr>
        <p:spPr>
          <a:xfrm>
            <a:off x="76200" y="1316197"/>
            <a:ext cx="12039600" cy="712628"/>
          </a:xfrm>
          <a:prstGeom prst="roundRect">
            <a:avLst>
              <a:gd name="adj" fmla="val 6522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cross-module-label">
            <a:extLst>
              <a:ext uri="{FF2B5EF4-FFF2-40B4-BE49-F238E27FC236}">
                <a16:creationId xmlns:a16="http://schemas.microsoft.com/office/drawing/2014/main" id="{821AAB5F-EC38-7BE9-11B4-C49CD2489091}"/>
              </a:ext>
            </a:extLst>
          </p:cNvPr>
          <p:cNvSpPr>
            <a:spLocks noGrp="1"/>
          </p:cNvSpPr>
          <p:nvPr/>
        </p:nvSpPr>
        <p:spPr>
          <a:xfrm>
            <a:off x="133350" y="1376072"/>
            <a:ext cx="1645920" cy="594360"/>
          </a:xfrm>
          <a:prstGeom prst="roundRect">
            <a:avLst>
              <a:gd name="adj" fmla="val 6250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OPTIONAL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CROSS-MODULE</a:t>
            </a:r>
          </a:p>
        </p:txBody>
      </p:sp>
      <p:sp>
        <p:nvSpPr>
          <p:cNvPr id="5" name="module-entry-background">
            <a:extLst>
              <a:ext uri="{FF2B5EF4-FFF2-40B4-BE49-F238E27FC236}">
                <a16:creationId xmlns:a16="http://schemas.microsoft.com/office/drawing/2014/main" id="{45A862C6-9C38-29C3-BE19-7507C39523A7}"/>
              </a:ext>
            </a:extLst>
          </p:cNvPr>
          <p:cNvSpPr>
            <a:spLocks noGrp="1"/>
          </p:cNvSpPr>
          <p:nvPr/>
        </p:nvSpPr>
        <p:spPr>
          <a:xfrm>
            <a:off x="76200" y="2076450"/>
            <a:ext cx="12039600" cy="876300"/>
          </a:xfrm>
          <a:prstGeom prst="roundRect">
            <a:avLst>
              <a:gd name="adj" fmla="val 6522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module-entry-label">
            <a:extLst>
              <a:ext uri="{FF2B5EF4-FFF2-40B4-BE49-F238E27FC236}">
                <a16:creationId xmlns:a16="http://schemas.microsoft.com/office/drawing/2014/main" id="{D8F6E0E4-98E8-B6E2-4830-9454FD494EB8}"/>
              </a:ext>
            </a:extLst>
          </p:cNvPr>
          <p:cNvSpPr>
            <a:spLocks noGrp="1"/>
          </p:cNvSpPr>
          <p:nvPr/>
        </p:nvSpPr>
        <p:spPr>
          <a:xfrm>
            <a:off x="133350" y="2133600"/>
            <a:ext cx="1645920" cy="762000"/>
          </a:xfrm>
          <a:prstGeom prst="roundRect">
            <a:avLst>
              <a:gd name="adj" fmla="val 6250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MODULE ENTRY</a:t>
            </a:r>
          </a:p>
        </p:txBody>
      </p:sp>
      <p:sp>
        <p:nvSpPr>
          <p:cNvPr id="7" name="handlers-background">
            <a:extLst>
              <a:ext uri="{FF2B5EF4-FFF2-40B4-BE49-F238E27FC236}">
                <a16:creationId xmlns:a16="http://schemas.microsoft.com/office/drawing/2014/main" id="{B172F68D-53AE-75C3-F0A6-4C378AB6A58A}"/>
              </a:ext>
            </a:extLst>
          </p:cNvPr>
          <p:cNvSpPr>
            <a:spLocks noGrp="1"/>
          </p:cNvSpPr>
          <p:nvPr/>
        </p:nvSpPr>
        <p:spPr>
          <a:xfrm>
            <a:off x="76200" y="3000375"/>
            <a:ext cx="12039600" cy="819150"/>
          </a:xfrm>
          <a:prstGeom prst="roundRect">
            <a:avLst>
              <a:gd name="adj" fmla="val 6977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andlers-label">
            <a:extLst>
              <a:ext uri="{FF2B5EF4-FFF2-40B4-BE49-F238E27FC236}">
                <a16:creationId xmlns:a16="http://schemas.microsoft.com/office/drawing/2014/main" id="{36BF52D4-E2E9-D67C-9725-5192A05DA8BD}"/>
              </a:ext>
            </a:extLst>
          </p:cNvPr>
          <p:cNvSpPr>
            <a:spLocks noGrp="1"/>
          </p:cNvSpPr>
          <p:nvPr/>
        </p:nvSpPr>
        <p:spPr>
          <a:xfrm>
            <a:off x="133350" y="3057525"/>
            <a:ext cx="1645920" cy="704850"/>
          </a:xfrm>
          <a:prstGeom prst="roundRect">
            <a:avLst>
              <a:gd name="adj" fmla="val 6757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APPLICATION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HANDLERS</a:t>
            </a:r>
          </a:p>
        </p:txBody>
      </p:sp>
      <p:sp>
        <p:nvSpPr>
          <p:cNvPr id="9" name="processing-background">
            <a:extLst>
              <a:ext uri="{FF2B5EF4-FFF2-40B4-BE49-F238E27FC236}">
                <a16:creationId xmlns:a16="http://schemas.microsoft.com/office/drawing/2014/main" id="{D066B1B7-D1BF-8568-080B-49F04E0FA0A4}"/>
              </a:ext>
            </a:extLst>
          </p:cNvPr>
          <p:cNvSpPr>
            <a:spLocks noGrp="1"/>
          </p:cNvSpPr>
          <p:nvPr/>
        </p:nvSpPr>
        <p:spPr>
          <a:xfrm>
            <a:off x="76200" y="3867150"/>
            <a:ext cx="12039600" cy="1047750"/>
          </a:xfrm>
          <a:prstGeom prst="roundRect">
            <a:avLst>
              <a:gd name="adj" fmla="val 5455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rocessing-label">
            <a:extLst>
              <a:ext uri="{FF2B5EF4-FFF2-40B4-BE49-F238E27FC236}">
                <a16:creationId xmlns:a16="http://schemas.microsoft.com/office/drawing/2014/main" id="{2B4BAA61-9D62-5845-DAAE-F675AA71F15F}"/>
              </a:ext>
            </a:extLst>
          </p:cNvPr>
          <p:cNvSpPr>
            <a:spLocks noGrp="1"/>
          </p:cNvSpPr>
          <p:nvPr/>
        </p:nvSpPr>
        <p:spPr>
          <a:xfrm>
            <a:off x="133350" y="3924300"/>
            <a:ext cx="1645920" cy="933450"/>
          </a:xfrm>
          <a:prstGeom prst="roundRect">
            <a:avLst>
              <a:gd name="adj" fmla="val 5102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PROCESSING</a:t>
            </a:r>
          </a:p>
        </p:txBody>
      </p:sp>
      <p:sp>
        <p:nvSpPr>
          <p:cNvPr id="11" name="infrastructure-background">
            <a:extLst>
              <a:ext uri="{FF2B5EF4-FFF2-40B4-BE49-F238E27FC236}">
                <a16:creationId xmlns:a16="http://schemas.microsoft.com/office/drawing/2014/main" id="{C110E919-8599-8E41-2D7B-DDFAB32FA229}"/>
              </a:ext>
            </a:extLst>
          </p:cNvPr>
          <p:cNvSpPr>
            <a:spLocks noGrp="1"/>
          </p:cNvSpPr>
          <p:nvPr/>
        </p:nvSpPr>
        <p:spPr>
          <a:xfrm>
            <a:off x="76200" y="4962525"/>
            <a:ext cx="12039600" cy="866775"/>
          </a:xfrm>
          <a:prstGeom prst="roundRect">
            <a:avLst>
              <a:gd name="adj" fmla="val 6593"/>
            </a:avLst>
          </a:prstGeom>
          <a:solidFill>
            <a:srgbClr val="F7F9FB"/>
          </a:solidFill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nfrastructure-label">
            <a:extLst>
              <a:ext uri="{FF2B5EF4-FFF2-40B4-BE49-F238E27FC236}">
                <a16:creationId xmlns:a16="http://schemas.microsoft.com/office/drawing/2014/main" id="{FC806BDE-5E06-43E2-C4DA-92C4C51F9E67}"/>
              </a:ext>
            </a:extLst>
          </p:cNvPr>
          <p:cNvSpPr>
            <a:spLocks noGrp="1"/>
          </p:cNvSpPr>
          <p:nvPr/>
        </p:nvSpPr>
        <p:spPr>
          <a:xfrm>
            <a:off x="133350" y="5019675"/>
            <a:ext cx="1645920" cy="752475"/>
          </a:xfrm>
          <a:prstGeom prst="roundRect">
            <a:avLst>
              <a:gd name="adj" fmla="val 6329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3" name="technologies-background">
            <a:extLst>
              <a:ext uri="{FF2B5EF4-FFF2-40B4-BE49-F238E27FC236}">
                <a16:creationId xmlns:a16="http://schemas.microsoft.com/office/drawing/2014/main" id="{EF24E0C5-ED6F-E9A5-24AC-7CDCDFBBBD50}"/>
              </a:ext>
            </a:extLst>
          </p:cNvPr>
          <p:cNvSpPr>
            <a:spLocks noGrp="1"/>
          </p:cNvSpPr>
          <p:nvPr/>
        </p:nvSpPr>
        <p:spPr>
          <a:xfrm>
            <a:off x="76200" y="5876925"/>
            <a:ext cx="12039600" cy="904875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chnologies-label">
            <a:extLst>
              <a:ext uri="{FF2B5EF4-FFF2-40B4-BE49-F238E27FC236}">
                <a16:creationId xmlns:a16="http://schemas.microsoft.com/office/drawing/2014/main" id="{E007C51D-1A48-680B-B02D-F635A52C7A9D}"/>
              </a:ext>
            </a:extLst>
          </p:cNvPr>
          <p:cNvSpPr>
            <a:spLocks noGrp="1"/>
          </p:cNvSpPr>
          <p:nvPr/>
        </p:nvSpPr>
        <p:spPr>
          <a:xfrm>
            <a:off x="133350" y="5934075"/>
            <a:ext cx="1645920" cy="790575"/>
          </a:xfrm>
          <a:prstGeom prst="roundRect">
            <a:avLst>
              <a:gd name="adj" fmla="val 6024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FRAMEWORKS AND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TECHNOLOGIES</a:t>
            </a:r>
          </a:p>
        </p:txBody>
      </p:sp>
      <p:sp>
        <p:nvSpPr>
          <p:cNvPr id="15" name="web-api">
            <a:extLst>
              <a:ext uri="{FF2B5EF4-FFF2-40B4-BE49-F238E27FC236}">
                <a16:creationId xmlns:a16="http://schemas.microsoft.com/office/drawing/2014/main" id="{35157C4E-7DC2-9140-903A-F9281EE7CA3F}"/>
              </a:ext>
            </a:extLst>
          </p:cNvPr>
          <p:cNvSpPr>
            <a:spLocks noGrp="1"/>
          </p:cNvSpPr>
          <p:nvPr/>
        </p:nvSpPr>
        <p:spPr>
          <a:xfrm>
            <a:off x="2388870" y="194550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Web API</a:t>
            </a:r>
          </a:p>
        </p:txBody>
      </p:sp>
      <p:sp>
        <p:nvSpPr>
          <p:cNvPr id="16" name="http-endpoints">
            <a:extLst>
              <a:ext uri="{FF2B5EF4-FFF2-40B4-BE49-F238E27FC236}">
                <a16:creationId xmlns:a16="http://schemas.microsoft.com/office/drawing/2014/main" id="{33B2BAAD-18EF-4544-38E1-2589278D296F}"/>
              </a:ext>
            </a:extLst>
          </p:cNvPr>
          <p:cNvSpPr>
            <a:spLocks noGrp="1"/>
          </p:cNvSpPr>
          <p:nvPr/>
        </p:nvSpPr>
        <p:spPr>
          <a:xfrm>
            <a:off x="2388870" y="753349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HTTP Endpoints</a:t>
            </a:r>
          </a:p>
        </p:txBody>
      </p:sp>
      <p:sp>
        <p:nvSpPr>
          <p:cNvPr id="17" name="scheduling-host">
            <a:extLst>
              <a:ext uri="{FF2B5EF4-FFF2-40B4-BE49-F238E27FC236}">
                <a16:creationId xmlns:a16="http://schemas.microsoft.com/office/drawing/2014/main" id="{007DF890-D80E-00BC-6EB6-6D85DE6B314D}"/>
              </a:ext>
            </a:extLst>
          </p:cNvPr>
          <p:cNvSpPr>
            <a:spLocks noGrp="1"/>
          </p:cNvSpPr>
          <p:nvPr/>
        </p:nvSpPr>
        <p:spPr>
          <a:xfrm>
            <a:off x="5480475" y="194550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Scheduling Hosted Service</a:t>
            </a:r>
          </a:p>
        </p:txBody>
      </p:sp>
      <p:sp>
        <p:nvSpPr>
          <p:cNvPr id="18" name="scheduled-job-adapter">
            <a:extLst>
              <a:ext uri="{FF2B5EF4-FFF2-40B4-BE49-F238E27FC236}">
                <a16:creationId xmlns:a16="http://schemas.microsoft.com/office/drawing/2014/main" id="{147FA63B-B997-6EF3-A289-A32BDBAEB684}"/>
              </a:ext>
            </a:extLst>
          </p:cNvPr>
          <p:cNvSpPr>
            <a:spLocks noGrp="1"/>
          </p:cNvSpPr>
          <p:nvPr/>
        </p:nvSpPr>
        <p:spPr>
          <a:xfrm>
            <a:off x="5480475" y="753349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Scheduled Job Adapter</a:t>
            </a:r>
          </a:p>
        </p:txBody>
      </p:sp>
      <p:sp>
        <p:nvSpPr>
          <p:cNvPr id="19" name="messaging-host">
            <a:extLst>
              <a:ext uri="{FF2B5EF4-FFF2-40B4-BE49-F238E27FC236}">
                <a16:creationId xmlns:a16="http://schemas.microsoft.com/office/drawing/2014/main" id="{4FB8A6C4-CBC2-BE73-D38E-45C6E4DECA4F}"/>
              </a:ext>
            </a:extLst>
          </p:cNvPr>
          <p:cNvSpPr>
            <a:spLocks noGrp="1"/>
          </p:cNvSpPr>
          <p:nvPr/>
        </p:nvSpPr>
        <p:spPr>
          <a:xfrm>
            <a:off x="8814161" y="194550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Messaging Hosted Service</a:t>
            </a:r>
          </a:p>
        </p:txBody>
      </p:sp>
      <p:sp>
        <p:nvSpPr>
          <p:cNvPr id="20" name="subscriber-consumer">
            <a:extLst>
              <a:ext uri="{FF2B5EF4-FFF2-40B4-BE49-F238E27FC236}">
                <a16:creationId xmlns:a16="http://schemas.microsoft.com/office/drawing/2014/main" id="{27F0B786-BBC1-1A72-FA2D-24F710A73FB9}"/>
              </a:ext>
            </a:extLst>
          </p:cNvPr>
          <p:cNvSpPr>
            <a:spLocks noGrp="1"/>
          </p:cNvSpPr>
          <p:nvPr/>
        </p:nvSpPr>
        <p:spPr>
          <a:xfrm>
            <a:off x="8814161" y="753349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Subscriber / Consumer</a:t>
            </a:r>
          </a:p>
        </p:txBody>
      </p:sp>
      <p:sp>
        <p:nvSpPr>
          <p:cNvPr id="22" name="process-manager">
            <a:extLst>
              <a:ext uri="{FF2B5EF4-FFF2-40B4-BE49-F238E27FC236}">
                <a16:creationId xmlns:a16="http://schemas.microsoft.com/office/drawing/2014/main" id="{D4D0DA93-6E49-40C1-D13C-DDE47CB53B37}"/>
              </a:ext>
            </a:extLst>
          </p:cNvPr>
          <p:cNvSpPr>
            <a:spLocks noGrp="1"/>
          </p:cNvSpPr>
          <p:nvPr/>
        </p:nvSpPr>
        <p:spPr>
          <a:xfrm>
            <a:off x="4912081" y="1457988"/>
            <a:ext cx="2035045" cy="361950"/>
          </a:xfrm>
          <a:prstGeom prst="roundRect">
            <a:avLst>
              <a:gd name="adj" fmla="val 18421"/>
            </a:avLst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</a:t>
            </a:r>
            <a:r>
              <a:rPr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Process Manager</a:t>
            </a:r>
          </a:p>
        </p:txBody>
      </p:sp>
      <p:sp>
        <p:nvSpPr>
          <p:cNvPr id="23" name="cross-module-querying">
            <a:extLst>
              <a:ext uri="{FF2B5EF4-FFF2-40B4-BE49-F238E27FC236}">
                <a16:creationId xmlns:a16="http://schemas.microsoft.com/office/drawing/2014/main" id="{0F6A08BA-0347-BF3D-6B16-704E5BA4C736}"/>
              </a:ext>
            </a:extLst>
          </p:cNvPr>
          <p:cNvSpPr>
            <a:spLocks noGrp="1"/>
          </p:cNvSpPr>
          <p:nvPr/>
        </p:nvSpPr>
        <p:spPr>
          <a:xfrm>
            <a:off x="9704750" y="1459150"/>
            <a:ext cx="2103118" cy="361950"/>
          </a:xfrm>
          <a:prstGeom prst="roundRect">
            <a:avLst>
              <a:gd name="adj" fmla="val 18421"/>
            </a:avLst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   </a:t>
            </a:r>
            <a:r>
              <a:rPr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Cross-Module Querying</a:t>
            </a:r>
          </a:p>
        </p:txBody>
      </p:sp>
      <p:sp>
        <p:nvSpPr>
          <p:cNvPr id="24" name="module-runtime">
            <a:extLst>
              <a:ext uri="{FF2B5EF4-FFF2-40B4-BE49-F238E27FC236}">
                <a16:creationId xmlns:a16="http://schemas.microsoft.com/office/drawing/2014/main" id="{34470EA4-DFD7-8580-FA5A-3FFA9AF59337}"/>
              </a:ext>
            </a:extLst>
          </p:cNvPr>
          <p:cNvSpPr>
            <a:spLocks noGrp="1"/>
          </p:cNvSpPr>
          <p:nvPr/>
        </p:nvSpPr>
        <p:spPr>
          <a:xfrm>
            <a:off x="2047875" y="2219325"/>
            <a:ext cx="4899251" cy="590550"/>
          </a:xfrm>
          <a:prstGeom prst="roundRect">
            <a:avLst>
              <a:gd name="adj" fmla="val 11290"/>
            </a:avLst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Aptos"/>
                <a:ea typeface="Aptos"/>
                <a:cs typeface="Aptos"/>
              </a:rPr>
              <a:t>Module Runtime</a:t>
            </a:r>
          </a:p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Aptos"/>
                <a:ea typeface="Aptos"/>
                <a:cs typeface="Aptos"/>
              </a:rPr>
              <a:t>Dispatch and Execution Pipelines</a:t>
            </a:r>
          </a:p>
        </p:txBody>
      </p:sp>
      <p:sp>
        <p:nvSpPr>
          <p:cNvPr id="25" name="cross-cutting-middleware">
            <a:extLst>
              <a:ext uri="{FF2B5EF4-FFF2-40B4-BE49-F238E27FC236}">
                <a16:creationId xmlns:a16="http://schemas.microsoft.com/office/drawing/2014/main" id="{E2FB6333-DC70-1765-60F8-A746BE7A6781}"/>
              </a:ext>
            </a:extLst>
          </p:cNvPr>
          <p:cNvSpPr>
            <a:spLocks noGrp="1"/>
          </p:cNvSpPr>
          <p:nvPr/>
        </p:nvSpPr>
        <p:spPr>
          <a:xfrm>
            <a:off x="7317866" y="2219324"/>
            <a:ext cx="3074668" cy="590549"/>
          </a:xfrm>
          <a:prstGeom prst="roundRect">
            <a:avLst>
              <a:gd name="adj" fmla="val 14000"/>
            </a:avLst>
          </a:prstGeom>
          <a:ln w="190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76200" tIns="47625" rIns="76200" bIns="47625" anchor="ctr">
            <a:normAutofit fontScale="93488"/>
          </a:bodyPr>
          <a:lstStyle/>
          <a:p>
            <a:pPr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Cross-Cutting Middleware</a:t>
            </a:r>
          </a:p>
          <a:p>
            <a:pPr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Authorization · Validation · Audit · Transaction</a:t>
            </a:r>
          </a:p>
        </p:txBody>
      </p:sp>
      <p:sp>
        <p:nvSpPr>
          <p:cNvPr id="26" name="command-handler">
            <a:extLst>
              <a:ext uri="{FF2B5EF4-FFF2-40B4-BE49-F238E27FC236}">
                <a16:creationId xmlns:a16="http://schemas.microsoft.com/office/drawing/2014/main" id="{7284689C-7F02-F075-B676-09E3218DB506}"/>
              </a:ext>
            </a:extLst>
          </p:cNvPr>
          <p:cNvSpPr>
            <a:spLocks noGrp="1"/>
          </p:cNvSpPr>
          <p:nvPr/>
        </p:nvSpPr>
        <p:spPr>
          <a:xfrm>
            <a:off x="2047875" y="3200400"/>
            <a:ext cx="2143125" cy="400050"/>
          </a:xfrm>
          <a:prstGeom prst="roundRect">
            <a:avLst>
              <a:gd name="adj" fmla="val 16667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Command Handler</a:t>
            </a:r>
          </a:p>
        </p:txBody>
      </p:sp>
      <p:sp>
        <p:nvSpPr>
          <p:cNvPr id="27" name="query-handler">
            <a:extLst>
              <a:ext uri="{FF2B5EF4-FFF2-40B4-BE49-F238E27FC236}">
                <a16:creationId xmlns:a16="http://schemas.microsoft.com/office/drawing/2014/main" id="{D052B661-E120-1088-2166-70F2EA019A8C}"/>
              </a:ext>
            </a:extLst>
          </p:cNvPr>
          <p:cNvSpPr>
            <a:spLocks noGrp="1"/>
          </p:cNvSpPr>
          <p:nvPr/>
        </p:nvSpPr>
        <p:spPr>
          <a:xfrm>
            <a:off x="4804001" y="3200400"/>
            <a:ext cx="2143125" cy="400050"/>
          </a:xfrm>
          <a:prstGeom prst="roundRect">
            <a:avLst>
              <a:gd name="adj" fmla="val 16667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Query Handler</a:t>
            </a:r>
          </a:p>
        </p:txBody>
      </p:sp>
      <p:sp>
        <p:nvSpPr>
          <p:cNvPr id="28" name="domain-services">
            <a:extLst>
              <a:ext uri="{FF2B5EF4-FFF2-40B4-BE49-F238E27FC236}">
                <a16:creationId xmlns:a16="http://schemas.microsoft.com/office/drawing/2014/main" id="{30F43679-A8CA-D933-BF43-E768E29F79EC}"/>
              </a:ext>
            </a:extLst>
          </p:cNvPr>
          <p:cNvSpPr>
            <a:spLocks noGrp="1"/>
          </p:cNvSpPr>
          <p:nvPr/>
        </p:nvSpPr>
        <p:spPr>
          <a:xfrm>
            <a:off x="2047875" y="4029075"/>
            <a:ext cx="2143125" cy="323850"/>
          </a:xfrm>
          <a:prstGeom prst="roundRect">
            <a:avLst>
              <a:gd name="adj" fmla="val 20588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Domain Services</a:t>
            </a:r>
          </a:p>
        </p:txBody>
      </p:sp>
      <p:sp>
        <p:nvSpPr>
          <p:cNvPr id="29" name="domain-model">
            <a:extLst>
              <a:ext uri="{FF2B5EF4-FFF2-40B4-BE49-F238E27FC236}">
                <a16:creationId xmlns:a16="http://schemas.microsoft.com/office/drawing/2014/main" id="{478244AD-A4B3-7595-D580-FF88C335BEAF}"/>
              </a:ext>
            </a:extLst>
          </p:cNvPr>
          <p:cNvSpPr>
            <a:spLocks noGrp="1"/>
          </p:cNvSpPr>
          <p:nvPr/>
        </p:nvSpPr>
        <p:spPr>
          <a:xfrm>
            <a:off x="2047875" y="4467225"/>
            <a:ext cx="2143125" cy="323850"/>
          </a:xfrm>
          <a:prstGeom prst="roundRect">
            <a:avLst>
              <a:gd name="adj" fmla="val 20588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Domain Model</a:t>
            </a:r>
          </a:p>
        </p:txBody>
      </p:sp>
      <p:sp>
        <p:nvSpPr>
          <p:cNvPr id="30" name="query-data-access">
            <a:extLst>
              <a:ext uri="{FF2B5EF4-FFF2-40B4-BE49-F238E27FC236}">
                <a16:creationId xmlns:a16="http://schemas.microsoft.com/office/drawing/2014/main" id="{B0F11077-6DB1-50DF-75B3-FC34FB4B5F8C}"/>
              </a:ext>
            </a:extLst>
          </p:cNvPr>
          <p:cNvSpPr>
            <a:spLocks noGrp="1"/>
          </p:cNvSpPr>
          <p:nvPr/>
        </p:nvSpPr>
        <p:spPr>
          <a:xfrm>
            <a:off x="4804001" y="4286250"/>
            <a:ext cx="2143125" cy="361950"/>
          </a:xfrm>
          <a:prstGeom prst="roundRect">
            <a:avLst>
              <a:gd name="adj" fmla="val 18421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Query Data Access</a:t>
            </a:r>
          </a:p>
        </p:txBody>
      </p:sp>
      <p:sp>
        <p:nvSpPr>
          <p:cNvPr id="31" name="repositories-dbcontext">
            <a:extLst>
              <a:ext uri="{FF2B5EF4-FFF2-40B4-BE49-F238E27FC236}">
                <a16:creationId xmlns:a16="http://schemas.microsoft.com/office/drawing/2014/main" id="{24C2E041-CBA2-B337-1AC3-C9B0AA8D7B9E}"/>
              </a:ext>
            </a:extLst>
          </p:cNvPr>
          <p:cNvSpPr>
            <a:spLocks noGrp="1"/>
          </p:cNvSpPr>
          <p:nvPr/>
        </p:nvSpPr>
        <p:spPr>
          <a:xfrm>
            <a:off x="2047875" y="5143500"/>
            <a:ext cx="2143125" cy="457200"/>
          </a:xfrm>
          <a:prstGeom prst="roundRect">
            <a:avLst>
              <a:gd name="adj" fmla="val 14583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lang="en-US" sz="1200" dirty="0">
                <a:solidFill>
                  <a:srgbClr val="1F2933"/>
                </a:solidFill>
                <a:latin typeface="Aptos"/>
              </a:rPr>
              <a:t>         </a:t>
            </a:r>
            <a:r>
              <a:rPr sz="1200" dirty="0">
                <a:solidFill>
                  <a:srgbClr val="1F2933"/>
                </a:solidFill>
                <a:latin typeface="Aptos"/>
              </a:rPr>
              <a:t>Repositories and DbContext</a:t>
            </a:r>
          </a:p>
        </p:txBody>
      </p:sp>
      <p:sp>
        <p:nvSpPr>
          <p:cNvPr id="32" name="read-infrastructure">
            <a:extLst>
              <a:ext uri="{FF2B5EF4-FFF2-40B4-BE49-F238E27FC236}">
                <a16:creationId xmlns:a16="http://schemas.microsoft.com/office/drawing/2014/main" id="{16EC8CCE-1460-7731-68AB-DB6AF6D8091A}"/>
              </a:ext>
            </a:extLst>
          </p:cNvPr>
          <p:cNvSpPr>
            <a:spLocks noGrp="1"/>
          </p:cNvSpPr>
          <p:nvPr/>
        </p:nvSpPr>
        <p:spPr>
          <a:xfrm>
            <a:off x="4804001" y="5143500"/>
            <a:ext cx="2143125" cy="457200"/>
          </a:xfrm>
          <a:prstGeom prst="roundRect">
            <a:avLst>
              <a:gd name="adj" fmla="val 14583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Read Infrastructure</a:t>
            </a:r>
          </a:p>
        </p:txBody>
      </p:sp>
      <p:sp>
        <p:nvSpPr>
          <p:cNvPr id="34" name="integration-event-adapters">
            <a:extLst>
              <a:ext uri="{FF2B5EF4-FFF2-40B4-BE49-F238E27FC236}">
                <a16:creationId xmlns:a16="http://schemas.microsoft.com/office/drawing/2014/main" id="{7CB97C82-E5A1-0A81-9F53-30B2B2E2ECE5}"/>
              </a:ext>
            </a:extLst>
          </p:cNvPr>
          <p:cNvSpPr>
            <a:spLocks noGrp="1"/>
          </p:cNvSpPr>
          <p:nvPr/>
        </p:nvSpPr>
        <p:spPr>
          <a:xfrm>
            <a:off x="7274378" y="5143500"/>
            <a:ext cx="2103120" cy="457200"/>
          </a:xfrm>
          <a:prstGeom prst="roundRect">
            <a:avLst>
              <a:gd name="adj" fmla="val 14583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 fontScale="88280" lnSpcReduction="10000"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Integration Event</a:t>
            </a:r>
          </a:p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Adapters</a:t>
            </a:r>
          </a:p>
        </p:txBody>
      </p:sp>
      <p:sp>
        <p:nvSpPr>
          <p:cNvPr id="35" name="cross-module-read-store">
            <a:extLst>
              <a:ext uri="{FF2B5EF4-FFF2-40B4-BE49-F238E27FC236}">
                <a16:creationId xmlns:a16="http://schemas.microsoft.com/office/drawing/2014/main" id="{B586B77E-1BF0-22C9-B6BF-8948C2A82872}"/>
              </a:ext>
            </a:extLst>
          </p:cNvPr>
          <p:cNvSpPr>
            <a:spLocks noGrp="1"/>
          </p:cNvSpPr>
          <p:nvPr/>
        </p:nvSpPr>
        <p:spPr>
          <a:xfrm>
            <a:off x="9704750" y="5143500"/>
            <a:ext cx="2103120" cy="457200"/>
          </a:xfrm>
          <a:prstGeom prst="roundRect">
            <a:avLst>
              <a:gd name="adj" fmla="val 14583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 fontScale="88280" lnSpcReduction="1000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Cross-Module</a:t>
            </a:r>
          </a:p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Read Store</a:t>
            </a:r>
          </a:p>
        </p:txBody>
      </p:sp>
      <p:sp>
        <p:nvSpPr>
          <p:cNvPr id="36" name="framework">
            <a:extLst>
              <a:ext uri="{FF2B5EF4-FFF2-40B4-BE49-F238E27FC236}">
                <a16:creationId xmlns:a16="http://schemas.microsoft.com/office/drawing/2014/main" id="{6A5ACBD6-B357-30C1-83EE-A1D74903F923}"/>
              </a:ext>
            </a:extLst>
          </p:cNvPr>
          <p:cNvSpPr>
            <a:spLocks noGrp="1"/>
          </p:cNvSpPr>
          <p:nvPr/>
        </p:nvSpPr>
        <p:spPr>
          <a:xfrm>
            <a:off x="2047875" y="6134100"/>
            <a:ext cx="2047875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Framework.*</a:t>
            </a:r>
          </a:p>
        </p:txBody>
      </p:sp>
      <p:sp>
        <p:nvSpPr>
          <p:cNvPr id="37" name="ef-sql">
            <a:extLst>
              <a:ext uri="{FF2B5EF4-FFF2-40B4-BE49-F238E27FC236}">
                <a16:creationId xmlns:a16="http://schemas.microsoft.com/office/drawing/2014/main" id="{DB06DBE3-5E5B-A1E7-17F1-982D1F10F814}"/>
              </a:ext>
            </a:extLst>
          </p:cNvPr>
          <p:cNvSpPr>
            <a:spLocks noGrp="1"/>
          </p:cNvSpPr>
          <p:nvPr/>
        </p:nvSpPr>
        <p:spPr>
          <a:xfrm>
            <a:off x="4476750" y="6134100"/>
            <a:ext cx="2095500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EF Core · SQL Server</a:t>
            </a:r>
          </a:p>
        </p:txBody>
      </p:sp>
      <p:sp>
        <p:nvSpPr>
          <p:cNvPr id="38" name="messaging-technology">
            <a:extLst>
              <a:ext uri="{FF2B5EF4-FFF2-40B4-BE49-F238E27FC236}">
                <a16:creationId xmlns:a16="http://schemas.microsoft.com/office/drawing/2014/main" id="{BF063B26-86CB-88C8-D650-5DBE28C7A35E}"/>
              </a:ext>
            </a:extLst>
          </p:cNvPr>
          <p:cNvSpPr>
            <a:spLocks noGrp="1"/>
          </p:cNvSpPr>
          <p:nvPr/>
        </p:nvSpPr>
        <p:spPr>
          <a:xfrm>
            <a:off x="6953250" y="6134100"/>
            <a:ext cx="2809875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CAP · MassTransit · Message Broker</a:t>
            </a:r>
          </a:p>
        </p:txBody>
      </p:sp>
      <p:sp>
        <p:nvSpPr>
          <p:cNvPr id="39" name="scheduling-technology">
            <a:extLst>
              <a:ext uri="{FF2B5EF4-FFF2-40B4-BE49-F238E27FC236}">
                <a16:creationId xmlns:a16="http://schemas.microsoft.com/office/drawing/2014/main" id="{3769B262-BC57-D1CF-D418-A96AECA78EB9}"/>
              </a:ext>
            </a:extLst>
          </p:cNvPr>
          <p:cNvSpPr>
            <a:spLocks noGrp="1"/>
          </p:cNvSpPr>
          <p:nvPr/>
        </p:nvSpPr>
        <p:spPr>
          <a:xfrm>
            <a:off x="10144125" y="6134100"/>
            <a:ext cx="1809750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Quartz · DurableTask</a:t>
            </a:r>
          </a:p>
        </p:txBody>
      </p:sp>
      <p:cxnSp>
        <p:nvCxnSpPr>
          <p:cNvPr id="99" name="web-to-http">
            <a:extLst>
              <a:ext uri="{FF2B5EF4-FFF2-40B4-BE49-F238E27FC236}">
                <a16:creationId xmlns:a16="http://schemas.microsoft.com/office/drawing/2014/main" id="{FDE91D97-F6F0-A6D2-5A2B-86881862E5EF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3623310" y="560310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0" name="scheduling-to-job">
            <a:extLst>
              <a:ext uri="{FF2B5EF4-FFF2-40B4-BE49-F238E27FC236}">
                <a16:creationId xmlns:a16="http://schemas.microsoft.com/office/drawing/2014/main" id="{FDD9B379-5380-E1C7-1E0F-EFB069DCD5B2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714915" y="560310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1" name="messaging-to-consumer">
            <a:extLst>
              <a:ext uri="{FF2B5EF4-FFF2-40B4-BE49-F238E27FC236}">
                <a16:creationId xmlns:a16="http://schemas.microsoft.com/office/drawing/2014/main" id="{4FB1B9F0-E0A6-0A44-98B0-D6E8915A2533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>
            <a:off x="10048601" y="560310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6" name="middleware-wraps-runtime">
            <a:extLst>
              <a:ext uri="{FF2B5EF4-FFF2-40B4-BE49-F238E27FC236}">
                <a16:creationId xmlns:a16="http://schemas.microsoft.com/office/drawing/2014/main" id="{EF370894-9E83-AF21-0939-890286E8BF55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6947126" y="2514599"/>
            <a:ext cx="370740" cy="1"/>
          </a:xfrm>
          <a:prstGeom prst="straightConnector1">
            <a:avLst/>
          </a:prstGeom>
          <a:ln w="19050">
            <a:solidFill>
              <a:srgbClr val="2463B5"/>
            </a:solidFill>
            <a:prstDash val="dash"/>
            <a:headEnd type="triangle" w="sm" len="sm"/>
            <a:tailEnd type="triangle" w="sm" len="sm"/>
          </a:ln>
        </p:spPr>
      </p:cxnSp>
      <p:cxnSp>
        <p:nvCxnSpPr>
          <p:cNvPr id="107" name="runtime-to-command">
            <a:extLst>
              <a:ext uri="{FF2B5EF4-FFF2-40B4-BE49-F238E27FC236}">
                <a16:creationId xmlns:a16="http://schemas.microsoft.com/office/drawing/2014/main" id="{E48CAEBC-A614-3AC8-7DC6-DDE90BC76D98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 rot="5400000">
            <a:off x="3613208" y="2316106"/>
            <a:ext cx="390525" cy="1378063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8" name="runtime-to-query">
            <a:extLst>
              <a:ext uri="{FF2B5EF4-FFF2-40B4-BE49-F238E27FC236}">
                <a16:creationId xmlns:a16="http://schemas.microsoft.com/office/drawing/2014/main" id="{127319B9-F754-412A-10E9-7FC03C8002F9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4991270" y="2316105"/>
            <a:ext cx="390525" cy="1378063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9" name="command-to-domain-services">
            <a:extLst>
              <a:ext uri="{FF2B5EF4-FFF2-40B4-BE49-F238E27FC236}">
                <a16:creationId xmlns:a16="http://schemas.microsoft.com/office/drawing/2014/main" id="{87DC8FF5-809E-6406-D62B-9B0B34723A4E}"/>
              </a:ext>
            </a:extLst>
          </p:cNvPr>
          <p:cNvCxnSpPr>
            <a:stCxn id="26" idx="2"/>
            <a:endCxn id="28" idx="0"/>
          </p:cNvCxnSpPr>
          <p:nvPr/>
        </p:nvCxnSpPr>
        <p:spPr>
          <a:xfrm>
            <a:off x="3119438" y="3600450"/>
            <a:ext cx="0" cy="42862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0" name="domain-services-to-domain">
            <a:extLst>
              <a:ext uri="{FF2B5EF4-FFF2-40B4-BE49-F238E27FC236}">
                <a16:creationId xmlns:a16="http://schemas.microsoft.com/office/drawing/2014/main" id="{19274D6C-1430-73F1-F0CB-54565C95A207}"/>
              </a:ext>
            </a:extLst>
          </p:cNvPr>
          <p:cNvCxnSpPr>
            <a:stCxn id="28" idx="2"/>
            <a:endCxn id="29" idx="0"/>
          </p:cNvCxnSpPr>
          <p:nvPr/>
        </p:nvCxnSpPr>
        <p:spPr>
          <a:xfrm>
            <a:off x="3119438" y="4352925"/>
            <a:ext cx="0" cy="114300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1" name="domain-to-persistence">
            <a:extLst>
              <a:ext uri="{FF2B5EF4-FFF2-40B4-BE49-F238E27FC236}">
                <a16:creationId xmlns:a16="http://schemas.microsoft.com/office/drawing/2014/main" id="{8D4CF84A-1932-C445-95E0-A08F242B6199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>
          <a:xfrm>
            <a:off x="3119438" y="4791075"/>
            <a:ext cx="0" cy="35242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2" name="query-to-access">
            <a:extLst>
              <a:ext uri="{FF2B5EF4-FFF2-40B4-BE49-F238E27FC236}">
                <a16:creationId xmlns:a16="http://schemas.microsoft.com/office/drawing/2014/main" id="{828C3FE5-FDB2-0413-FBFC-4EA92230DCDA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5875564" y="3600450"/>
            <a:ext cx="0" cy="68580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3" name="query-access-to-read-infra">
            <a:extLst>
              <a:ext uri="{FF2B5EF4-FFF2-40B4-BE49-F238E27FC236}">
                <a16:creationId xmlns:a16="http://schemas.microsoft.com/office/drawing/2014/main" id="{E9BD6753-048B-FB46-766A-8809EED7B144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>
            <a:off x="5875564" y="4648200"/>
            <a:ext cx="0" cy="49530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4" name="cross-querying-to-store">
            <a:extLst>
              <a:ext uri="{FF2B5EF4-FFF2-40B4-BE49-F238E27FC236}">
                <a16:creationId xmlns:a16="http://schemas.microsoft.com/office/drawing/2014/main" id="{51F82168-782D-8D0E-F1BC-C06A3F0C645B}"/>
              </a:ext>
            </a:extLst>
          </p:cNvPr>
          <p:cNvCxnSpPr>
            <a:cxnSpLocks/>
            <a:stCxn id="23" idx="2"/>
            <a:endCxn id="35" idx="0"/>
          </p:cNvCxnSpPr>
          <p:nvPr/>
        </p:nvCxnSpPr>
        <p:spPr>
          <a:xfrm>
            <a:off x="10756309" y="1821100"/>
            <a:ext cx="1" cy="332240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6" name="framework-boundary-guide">
            <a:extLst>
              <a:ext uri="{FF2B5EF4-FFF2-40B4-BE49-F238E27FC236}">
                <a16:creationId xmlns:a16="http://schemas.microsoft.com/office/drawing/2014/main" id="{005F1452-BB69-EF56-DD0C-79B196614806}"/>
              </a:ext>
            </a:extLst>
          </p:cNvPr>
          <p:cNvSpPr>
            <a:spLocks noGrp="1"/>
          </p:cNvSpPr>
          <p:nvPr/>
        </p:nvSpPr>
        <p:spPr>
          <a:xfrm>
            <a:off x="306705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7" name="ef-boundary-guide">
            <a:extLst>
              <a:ext uri="{FF2B5EF4-FFF2-40B4-BE49-F238E27FC236}">
                <a16:creationId xmlns:a16="http://schemas.microsoft.com/office/drawing/2014/main" id="{A538748F-4189-2319-03D1-866CA6C819E6}"/>
              </a:ext>
            </a:extLst>
          </p:cNvPr>
          <p:cNvSpPr>
            <a:spLocks noGrp="1"/>
          </p:cNvSpPr>
          <p:nvPr/>
        </p:nvSpPr>
        <p:spPr>
          <a:xfrm>
            <a:off x="552450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messaging-boundary-guide">
            <a:extLst>
              <a:ext uri="{FF2B5EF4-FFF2-40B4-BE49-F238E27FC236}">
                <a16:creationId xmlns:a16="http://schemas.microsoft.com/office/drawing/2014/main" id="{378CC8C4-C1F4-7962-A08D-567B0D9D9026}"/>
              </a:ext>
            </a:extLst>
          </p:cNvPr>
          <p:cNvSpPr>
            <a:spLocks noGrp="1"/>
          </p:cNvSpPr>
          <p:nvPr/>
        </p:nvSpPr>
        <p:spPr>
          <a:xfrm>
            <a:off x="8353425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9" name="scheduling-boundary-guide">
            <a:extLst>
              <a:ext uri="{FF2B5EF4-FFF2-40B4-BE49-F238E27FC236}">
                <a16:creationId xmlns:a16="http://schemas.microsoft.com/office/drawing/2014/main" id="{E60F0160-31DD-8E4F-789E-CC91C58057AB}"/>
              </a:ext>
            </a:extLst>
          </p:cNvPr>
          <p:cNvSpPr>
            <a:spLocks noGrp="1"/>
          </p:cNvSpPr>
          <p:nvPr/>
        </p:nvSpPr>
        <p:spPr>
          <a:xfrm>
            <a:off x="1104900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cxnSp>
        <p:nvCxnSpPr>
          <p:cNvPr id="123" name="job-optional-process-manager">
            <a:extLst>
              <a:ext uri="{FF2B5EF4-FFF2-40B4-BE49-F238E27FC236}">
                <a16:creationId xmlns:a16="http://schemas.microsoft.com/office/drawing/2014/main" id="{2E135E00-60D2-62E3-56AB-9E57014A8754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4497501" y="1248243"/>
            <a:ext cx="0" cy="971082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32" name="Graphic 131" descr="Internet with solid fill">
            <a:extLst>
              <a:ext uri="{FF2B5EF4-FFF2-40B4-BE49-F238E27FC236}">
                <a16:creationId xmlns:a16="http://schemas.microsoft.com/office/drawing/2014/main" id="{326DE3E0-198D-697F-5CF2-3233BBAD6F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3016" y="215488"/>
            <a:ext cx="323884" cy="323884"/>
          </a:xfrm>
          <a:prstGeom prst="rect">
            <a:avLst/>
          </a:prstGeom>
        </p:spPr>
      </p:pic>
      <p:pic>
        <p:nvPicPr>
          <p:cNvPr id="136" name="Graphic 135" descr="Clock with solid fill">
            <a:extLst>
              <a:ext uri="{FF2B5EF4-FFF2-40B4-BE49-F238E27FC236}">
                <a16:creationId xmlns:a16="http://schemas.microsoft.com/office/drawing/2014/main" id="{1C7E586B-4057-BAE3-0021-0BD8D8575B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6682" y="217410"/>
            <a:ext cx="320040" cy="320040"/>
          </a:xfrm>
          <a:prstGeom prst="rect">
            <a:avLst/>
          </a:prstGeom>
        </p:spPr>
      </p:pic>
      <p:pic>
        <p:nvPicPr>
          <p:cNvPr id="144" name="Graphic 143" descr="Envelope with solid fill">
            <a:extLst>
              <a:ext uri="{FF2B5EF4-FFF2-40B4-BE49-F238E27FC236}">
                <a16:creationId xmlns:a16="http://schemas.microsoft.com/office/drawing/2014/main" id="{FDBB02C0-D2A5-2852-E512-E74E904C8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787" y="217410"/>
            <a:ext cx="320040" cy="320040"/>
          </a:xfrm>
          <a:prstGeom prst="rect">
            <a:avLst/>
          </a:prstGeom>
        </p:spPr>
      </p:pic>
      <p:pic>
        <p:nvPicPr>
          <p:cNvPr id="157" name="Graphic 156" descr="Database with solid fill">
            <a:extLst>
              <a:ext uri="{FF2B5EF4-FFF2-40B4-BE49-F238E27FC236}">
                <a16:creationId xmlns:a16="http://schemas.microsoft.com/office/drawing/2014/main" id="{12B6BDB3-D674-DB75-928A-130F4C6676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16951" y="5212263"/>
            <a:ext cx="320040" cy="320040"/>
          </a:xfrm>
          <a:prstGeom prst="rect">
            <a:avLst/>
          </a:prstGeom>
        </p:spPr>
      </p:pic>
      <p:pic>
        <p:nvPicPr>
          <p:cNvPr id="159" name="Graphic 158" descr="Gears with solid fill">
            <a:extLst>
              <a:ext uri="{FF2B5EF4-FFF2-40B4-BE49-F238E27FC236}">
                <a16:creationId xmlns:a16="http://schemas.microsoft.com/office/drawing/2014/main" id="{D20D6FDF-95B8-7E00-0C4F-15202534FF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70785" y="2290763"/>
            <a:ext cx="457200" cy="457200"/>
          </a:xfrm>
          <a:prstGeom prst="rect">
            <a:avLst/>
          </a:prstGeom>
        </p:spPr>
      </p:pic>
      <p:pic>
        <p:nvPicPr>
          <p:cNvPr id="179" name="Graphic 178" descr="Database with solid fill">
            <a:extLst>
              <a:ext uri="{FF2B5EF4-FFF2-40B4-BE49-F238E27FC236}">
                <a16:creationId xmlns:a16="http://schemas.microsoft.com/office/drawing/2014/main" id="{5DFF71DE-FBCD-2813-E957-541D3535B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4968" y="5212080"/>
            <a:ext cx="320040" cy="320040"/>
          </a:xfrm>
          <a:prstGeom prst="rect">
            <a:avLst/>
          </a:prstGeom>
        </p:spPr>
      </p:pic>
      <p:grpSp>
        <p:nvGrpSpPr>
          <p:cNvPr id="241" name="Group 240">
            <a:extLst>
              <a:ext uri="{FF2B5EF4-FFF2-40B4-BE49-F238E27FC236}">
                <a16:creationId xmlns:a16="http://schemas.microsoft.com/office/drawing/2014/main" id="{00100681-B8F0-D8BE-F580-6CAE8A54CD00}"/>
              </a:ext>
            </a:extLst>
          </p:cNvPr>
          <p:cNvGrpSpPr/>
          <p:nvPr/>
        </p:nvGrpSpPr>
        <p:grpSpPr>
          <a:xfrm>
            <a:off x="9074386" y="2259516"/>
            <a:ext cx="1110822" cy="274320"/>
            <a:chOff x="9243542" y="2259516"/>
            <a:chExt cx="1110822" cy="274320"/>
          </a:xfrm>
        </p:grpSpPr>
        <p:pic>
          <p:nvPicPr>
            <p:cNvPr id="181" name="Graphic 180" descr="Gauge with solid fill">
              <a:extLst>
                <a:ext uri="{FF2B5EF4-FFF2-40B4-BE49-F238E27FC236}">
                  <a16:creationId xmlns:a16="http://schemas.microsoft.com/office/drawing/2014/main" id="{7BE74D9F-26DC-C832-3B55-74AC975D58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43542" y="2259516"/>
              <a:ext cx="274320" cy="274320"/>
            </a:xfrm>
            <a:prstGeom prst="rect">
              <a:avLst/>
            </a:prstGeom>
          </p:spPr>
        </p:pic>
        <p:pic>
          <p:nvPicPr>
            <p:cNvPr id="183" name="Graphic 182" descr="Heartbeat with solid fill">
              <a:extLst>
                <a:ext uri="{FF2B5EF4-FFF2-40B4-BE49-F238E27FC236}">
                  <a16:creationId xmlns:a16="http://schemas.microsoft.com/office/drawing/2014/main" id="{D078A188-2015-0F63-CCE6-7A76A143D7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661793" y="2259516"/>
              <a:ext cx="274320" cy="274320"/>
            </a:xfrm>
            <a:prstGeom prst="rect">
              <a:avLst/>
            </a:prstGeom>
          </p:spPr>
        </p:pic>
        <p:pic>
          <p:nvPicPr>
            <p:cNvPr id="185" name="Graphic 184" descr="Lock with solid fill">
              <a:extLst>
                <a:ext uri="{FF2B5EF4-FFF2-40B4-BE49-F238E27FC236}">
                  <a16:creationId xmlns:a16="http://schemas.microsoft.com/office/drawing/2014/main" id="{980F81EC-45B9-2337-62AB-CF878CED25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80044" y="2259516"/>
              <a:ext cx="274320" cy="274320"/>
            </a:xfrm>
            <a:prstGeom prst="rect">
              <a:avLst/>
            </a:prstGeom>
          </p:spPr>
        </p:pic>
      </p:grpSp>
      <p:cxnSp>
        <p:nvCxnSpPr>
          <p:cNvPr id="192" name="cross-querying-to-store">
            <a:extLst>
              <a:ext uri="{FF2B5EF4-FFF2-40B4-BE49-F238E27FC236}">
                <a16:creationId xmlns:a16="http://schemas.microsoft.com/office/drawing/2014/main" id="{011C9EF7-5D1E-C107-2C8A-8D14B6AD0C82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8287294" y="2809873"/>
            <a:ext cx="0" cy="2333627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prstDash val="dash"/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3" name="Graphic 202" descr="Network with solid fill">
            <a:extLst>
              <a:ext uri="{FF2B5EF4-FFF2-40B4-BE49-F238E27FC236}">
                <a16:creationId xmlns:a16="http://schemas.microsoft.com/office/drawing/2014/main" id="{8F26F7EC-96A6-F158-4440-D36C3BC77D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33855" y="5189220"/>
            <a:ext cx="365760" cy="365760"/>
          </a:xfrm>
          <a:prstGeom prst="rect">
            <a:avLst/>
          </a:prstGeom>
        </p:spPr>
      </p:pic>
      <p:pic>
        <p:nvPicPr>
          <p:cNvPr id="205" name="Graphic 204" descr="Single gear with solid fill">
            <a:extLst>
              <a:ext uri="{FF2B5EF4-FFF2-40B4-BE49-F238E27FC236}">
                <a16:creationId xmlns:a16="http://schemas.microsoft.com/office/drawing/2014/main" id="{D261DFDE-3845-BE54-5C8A-F91BC8BC0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171562" y="4053840"/>
            <a:ext cx="274320" cy="274320"/>
          </a:xfrm>
          <a:prstGeom prst="rect">
            <a:avLst/>
          </a:prstGeom>
        </p:spPr>
      </p:pic>
      <p:pic>
        <p:nvPicPr>
          <p:cNvPr id="207" name="Graphic 206" descr="Database with solid fill">
            <a:extLst>
              <a:ext uri="{FF2B5EF4-FFF2-40B4-BE49-F238E27FC236}">
                <a16:creationId xmlns:a16="http://schemas.microsoft.com/office/drawing/2014/main" id="{65898162-584B-65A4-C745-E9009A1C0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53415" y="5197510"/>
            <a:ext cx="320040" cy="320040"/>
          </a:xfrm>
          <a:prstGeom prst="rect">
            <a:avLst/>
          </a:prstGeom>
        </p:spPr>
      </p:pic>
      <p:pic>
        <p:nvPicPr>
          <p:cNvPr id="212" name="Graphic 211" descr="Braille with solid fill">
            <a:extLst>
              <a:ext uri="{FF2B5EF4-FFF2-40B4-BE49-F238E27FC236}">
                <a16:creationId xmlns:a16="http://schemas.microsoft.com/office/drawing/2014/main" id="{7C6EAF71-4899-7256-E003-1D61E27DB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71562" y="3272234"/>
            <a:ext cx="274320" cy="274320"/>
          </a:xfrm>
          <a:prstGeom prst="rect">
            <a:avLst/>
          </a:prstGeom>
        </p:spPr>
      </p:pic>
      <p:pic>
        <p:nvPicPr>
          <p:cNvPr id="214" name="Graphic 213" descr="Atom with solid fill">
            <a:extLst>
              <a:ext uri="{FF2B5EF4-FFF2-40B4-BE49-F238E27FC236}">
                <a16:creationId xmlns:a16="http://schemas.microsoft.com/office/drawing/2014/main" id="{84C7AFE3-C296-1FEC-D7C8-0A64873FE7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71562" y="4490996"/>
            <a:ext cx="274320" cy="274320"/>
          </a:xfrm>
          <a:prstGeom prst="rect">
            <a:avLst/>
          </a:prstGeom>
        </p:spPr>
      </p:pic>
      <p:pic>
        <p:nvPicPr>
          <p:cNvPr id="216" name="Graphic 215" descr="Pie chart with solid fill">
            <a:extLst>
              <a:ext uri="{FF2B5EF4-FFF2-40B4-BE49-F238E27FC236}">
                <a16:creationId xmlns:a16="http://schemas.microsoft.com/office/drawing/2014/main" id="{0D7CA592-04D1-B1FB-B298-AC4E539D3D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905081" y="4337368"/>
            <a:ext cx="274320" cy="274320"/>
          </a:xfrm>
          <a:prstGeom prst="rect">
            <a:avLst/>
          </a:prstGeom>
        </p:spPr>
      </p:pic>
      <p:pic>
        <p:nvPicPr>
          <p:cNvPr id="218" name="Graphic 217" descr="Research with solid fill">
            <a:extLst>
              <a:ext uri="{FF2B5EF4-FFF2-40B4-BE49-F238E27FC236}">
                <a16:creationId xmlns:a16="http://schemas.microsoft.com/office/drawing/2014/main" id="{FF487AD8-BBAD-EAEA-09B7-D54150FA9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23501" y="3275843"/>
            <a:ext cx="274320" cy="274320"/>
          </a:xfrm>
          <a:prstGeom prst="rect">
            <a:avLst/>
          </a:prstGeom>
        </p:spPr>
      </p:pic>
      <p:pic>
        <p:nvPicPr>
          <p:cNvPr id="260" name="Graphic 259" descr="Database with solid fill">
            <a:extLst>
              <a:ext uri="{FF2B5EF4-FFF2-40B4-BE49-F238E27FC236}">
                <a16:creationId xmlns:a16="http://schemas.microsoft.com/office/drawing/2014/main" id="{1CE85842-497E-457A-424A-8FB1BCE8D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17429" y="1502965"/>
            <a:ext cx="274320" cy="274320"/>
          </a:xfrm>
          <a:prstGeom prst="rect">
            <a:avLst/>
          </a:prstGeom>
        </p:spPr>
      </p:pic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CB7E7479-046C-5EF9-3EE9-19E22AE88D89}"/>
              </a:ext>
            </a:extLst>
          </p:cNvPr>
          <p:cNvCxnSpPr>
            <a:cxnSpLocks/>
          </p:cNvCxnSpPr>
          <p:nvPr/>
        </p:nvCxnSpPr>
        <p:spPr>
          <a:xfrm>
            <a:off x="142681" y="1238912"/>
            <a:ext cx="11887200" cy="0"/>
          </a:xfrm>
          <a:prstGeom prst="line">
            <a:avLst/>
          </a:prstGeom>
          <a:ln w="28575">
            <a:headEnd type="none" w="med" len="med"/>
            <a:tailEnd type="non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77" name="Graphic 276" descr="Venn diagram with solid fill">
            <a:extLst>
              <a:ext uri="{FF2B5EF4-FFF2-40B4-BE49-F238E27FC236}">
                <a16:creationId xmlns:a16="http://schemas.microsoft.com/office/drawing/2014/main" id="{977DA052-3CB6-210D-EDC1-7095A65735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54958" y="1456083"/>
            <a:ext cx="365760" cy="365760"/>
          </a:xfrm>
          <a:prstGeom prst="rect">
            <a:avLst/>
          </a:prstGeom>
        </p:spPr>
      </p:pic>
      <p:cxnSp>
        <p:nvCxnSpPr>
          <p:cNvPr id="21" name="job-optional-process-manager">
            <a:extLst>
              <a:ext uri="{FF2B5EF4-FFF2-40B4-BE49-F238E27FC236}">
                <a16:creationId xmlns:a16="http://schemas.microsoft.com/office/drawing/2014/main" id="{F6175D5E-FB24-1C92-47DD-D17CB494D7A9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5929604" y="1246453"/>
            <a:ext cx="0" cy="21153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job-optional-process-manager">
            <a:extLst>
              <a:ext uri="{FF2B5EF4-FFF2-40B4-BE49-F238E27FC236}">
                <a16:creationId xmlns:a16="http://schemas.microsoft.com/office/drawing/2014/main" id="{84FB5807-4DEE-8DCB-3508-F84628C58998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10756309" y="1238912"/>
            <a:ext cx="0" cy="220238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job-optional-process-manager">
            <a:extLst>
              <a:ext uri="{FF2B5EF4-FFF2-40B4-BE49-F238E27FC236}">
                <a16:creationId xmlns:a16="http://schemas.microsoft.com/office/drawing/2014/main" id="{C9908D38-54F0-956D-A6E1-1F00396AD27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5929604" y="1819938"/>
            <a:ext cx="0" cy="399386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167262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260</TotalTime>
  <Words>114</Words>
  <Application>Microsoft Office PowerPoint</Application>
  <DocSecurity>0</DocSecurity>
  <PresentationFormat>Widescreen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Neue Haas Grotesk Text Pro</vt:lpstr>
      <vt:lpstr>Helena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Ali Golshani</cp:lastModifiedBy>
  <cp:revision>98</cp:revision>
  <dcterms:created xsi:type="dcterms:W3CDTF">2026-08-20T23:14:16Z</dcterms:created>
  <dcterms:modified xsi:type="dcterms:W3CDTF">2026-08-21T14:29:51Z</dcterms:modified>
</cp:coreProperties>
</file>